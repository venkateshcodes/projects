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2" r:id="rId3"/>
    <p:sldId id="257" r:id="rId4"/>
    <p:sldId id="259" r:id="rId5"/>
    <p:sldId id="258" r:id="rId6"/>
    <p:sldId id="273" r:id="rId7"/>
    <p:sldId id="260" r:id="rId8"/>
    <p:sldId id="261" r:id="rId9"/>
    <p:sldId id="262" r:id="rId10"/>
    <p:sldId id="274" r:id="rId11"/>
    <p:sldId id="263" r:id="rId12"/>
    <p:sldId id="275" r:id="rId13"/>
    <p:sldId id="276" r:id="rId14"/>
    <p:sldId id="277" r:id="rId15"/>
    <p:sldId id="278" r:id="rId16"/>
    <p:sldId id="264" r:id="rId17"/>
    <p:sldId id="279" r:id="rId18"/>
    <p:sldId id="280" r:id="rId19"/>
    <p:sldId id="269" r:id="rId20"/>
    <p:sldId id="270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4D89FD-0FF8-467E-B409-4E32625ACDB9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836E8A-2F80-4A6F-AF62-56AC987680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223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36E8A-2F80-4A6F-AF62-56AC9876809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302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88B8D-06CF-EA2B-3B7B-44EBAF540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70E767-A3CD-B627-E326-8084A3D8C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406269-460D-5801-5E5F-A903EAA3A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769162-20EA-8F3C-F4A1-9BC9217035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36E8A-2F80-4A6F-AF62-56AC9876809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752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41824-DED7-F32F-1324-762929642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645B185-56E3-C1AA-49AD-5A6A8B486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C86A41-2F72-278E-958B-BCBD5FD65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90E791-1BA3-3F74-4A10-6245AE531A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36E8A-2F80-4A6F-AF62-56AC9876809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907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B0B4D-4031-FF94-ECA5-1D64FE4B8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2EAD70-0DFB-D15C-E943-F6DEB193A2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C0FAD2-897F-2034-E37B-0692A3C8A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926198-08A6-D744-14D2-3092DF142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36E8A-2F80-4A6F-AF62-56AC9876809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054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42C95-2DC0-C08B-BA10-D3CA7EC8C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80C3CC-5757-9321-27E3-E6637AC20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9C3CE4-5BE0-F75F-E7FC-593028768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E5476D-28C2-07DD-59DF-41EF626CA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36E8A-2F80-4A6F-AF62-56AC9876809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8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781F-D7BE-1D17-323A-96AC88230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35F753-8E37-5FF5-CD0A-62528BE13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337BAD-7574-6438-43A6-FBC0D7C5E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887F42-E8BE-464D-F318-6B4965DC0B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36E8A-2F80-4A6F-AF62-56AC9876809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499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35F9B-2579-55F1-5A04-2D331CDF0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C4B1CA-80A0-C774-D274-25F789E40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DD72D5-74FE-E284-019B-2ED555E5D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852E78-1706-18B6-6F2E-F9423ABAC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36E8A-2F80-4A6F-AF62-56AC9876809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213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AE125-1962-E63C-8437-41DEBF158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6113AE-D481-5684-49B3-60BEC98B12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2A7FBB-99D0-5E31-0B79-A0C5B74B9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CB0C86-1966-91CC-EC23-BE585BE871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36E8A-2F80-4A6F-AF62-56AC9876809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422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C12E-DCB5-FAB8-3CF5-D18611584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8BF255-8534-26ED-1545-F43B5B38A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C90A11-05D8-47C4-6BE2-E135CA9E8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94FEC4-C423-8F69-A685-96B169EEDE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36E8A-2F80-4A6F-AF62-56AC9876809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416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74052-C236-9D8C-8313-B493D41D0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AE0CF6-33CD-8E34-A169-22B178B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D8C60C-4ADA-CA5A-D30B-8E73839CB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2C49F2-BAE5-3CAE-09C8-D52B08A9CC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36E8A-2F80-4A6F-AF62-56AC9876809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254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AF325-441F-9F16-4722-F5F930142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AFDCFB-96D9-165F-3052-841387AE5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D78AD7D-9CAD-7D04-4C78-730EDE6FF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1072CD-F41C-A64F-2C7E-86E9A7280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36E8A-2F80-4A6F-AF62-56AC9876809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91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2E16C-A8F2-1F44-F74A-BE48E3F86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1C77DB-8BB8-C86D-6E6E-D91B4282C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E81097-CB77-B079-6803-D4EC5A9B7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35D96F-DBEC-80CB-98E0-D060CB0B32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36E8A-2F80-4A6F-AF62-56AC9876809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2061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0E37A-C92C-A9A1-2795-2FE190600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D1D5B4-70CC-8EE0-B6AC-9ED1FD94D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E1B9422-A2BE-10BC-B421-A553E814B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02FA02-0C3C-D836-DBBC-099790D39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36E8A-2F80-4A6F-AF62-56AC9876809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2408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95D64-A017-774A-24D9-3055576E5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90C8C3-9763-1FC1-0972-B7F28CBAB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221ABD-1DD5-67DA-6774-5EE74375C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A5E202-9B71-F155-4124-5A9E69ED9C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36E8A-2F80-4A6F-AF62-56AC9876809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630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323078-A32A-85CB-636D-B90FFE1F4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241C96-45C7-4F5C-E956-66E7D6AA8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22996B-1F4D-770E-903E-324CD211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D4A78-41CB-4375-8E23-36612589452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629058-DE08-9B22-0391-8737DC09A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99D518-9F37-1175-030E-C46D38FC9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5FE6-0251-4325-93CE-3BB3752DC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92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FB5166-2B08-9723-0BA3-32C3372A2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5381AA-B783-25DF-5549-5C9DADD0B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173EE8-D751-FF14-B8CF-BE40BF362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D4A78-41CB-4375-8E23-36612589452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B4199C-7590-D017-D8E5-0EF0FC287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ACD4FE-E86B-578A-2892-3A6FF1B0B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5FE6-0251-4325-93CE-3BB3752DC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056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BBF592-38E4-43E5-5283-14577BA7F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05C11A-BEE6-7B2E-1C07-FF123ACCA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9AE3F3-8B29-D811-5699-B10C3DF20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D4A78-41CB-4375-8E23-36612589452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C29CCB-46FE-1AE1-F0FF-84C6733DF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F27CDF-25F5-2FC8-230B-F22354FDA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5FE6-0251-4325-93CE-3BB3752DC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470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E1BE55-56B0-BEC4-93C2-34BC70731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6DBCA3-FEC9-8DF7-4F9B-2718CD492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DA6667-AC44-BD9F-0971-1B71624D3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50E69F-D3D3-A87D-3B5E-D09582405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D4A78-41CB-4375-8E23-36612589452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656FD0-A77E-5C9D-F97E-9F6A651D2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E73865-586E-0552-3B42-1CB8B96BF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5FE6-0251-4325-93CE-3BB3752DC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876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2FDFD-1477-7BF4-B83B-8E506B9C6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DAD67E-B599-4E24-D752-088487822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A3FA70-4B56-AE82-F884-41140F700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A3C70B9-3193-E906-ADBE-30AB0FE622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347771-A3F6-EBB6-FEFE-65227C375E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A0AFA29-3D20-1643-D8E9-F93010076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D4A78-41CB-4375-8E23-36612589452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5FEA86-8F3D-F09D-2919-D1844FFBB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48CB3D-A770-F30B-6BB5-2C8A80A93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5FE6-0251-4325-93CE-3BB3752DC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110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EB1A94-A687-C24C-37FB-A36CC06BA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6652BD3-9972-635D-DDB4-9938F1102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D4A78-41CB-4375-8E23-36612589452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003AA4-4BC4-C0C0-E881-861CEC015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88148E-164A-9354-2176-E29330C3C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5FE6-0251-4325-93CE-3BB3752DC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7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659262D-1040-DA9F-3EEE-E8E4EC20B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D4A78-41CB-4375-8E23-36612589452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092164-CF94-9C10-1275-EADF12D01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4CD839-9653-F6DF-4585-F6559A086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5FE6-0251-4325-93CE-3BB3752DC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443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B51064-5ACE-410B-CE56-EB7EDBB14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90BDAD-8C63-2B21-86C2-8FA4C3C49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A8F01E-DC6C-0EA8-B079-867420D52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31B432-F3D0-4520-594A-7698EB96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D4A78-41CB-4375-8E23-36612589452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782FB2-BF58-FABD-2AC2-F3E25AA4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737158-7F9C-0439-6937-21CDDA1CD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5FE6-0251-4325-93CE-3BB3752DC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686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EF0378-87A4-EDCB-BC92-07184E01C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23D068-EAFD-82EF-78CE-DCE87B439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C89EC5-88EE-E3A1-7C6D-3294603B8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1E9271-F471-7E07-5AFC-2070BE2F6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D4A78-41CB-4375-8E23-36612589452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586799-C835-983D-DBA9-998DDC40D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2D7C0A-1B92-5B75-B81F-EAE463342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5FE6-0251-4325-93CE-3BB3752DC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239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A72C44-D842-CD84-3A58-3AE9EC4A8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846D07-F424-D6DE-5C2E-C24A6299A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711E62-BC55-678B-B686-69C6748B8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D4A78-41CB-4375-8E23-36612589452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D12EB1-7A50-A7F6-844A-922506A4D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B9670E-A55E-27A1-C981-04D0CECF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5FE6-0251-4325-93CE-3BB3752DC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867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A0B311D-06CD-CE40-8930-E514908287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C74272-A639-6F5B-989C-09771A8F3A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4AA0E3-55D9-349B-259D-5270F3B50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D4A78-41CB-4375-8E23-36612589452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3E9703-9251-A73D-87D3-0018D4540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FCE5D6-3E9E-3AA3-8D56-97E0005C9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5FE6-0251-4325-93CE-3BB3752DC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611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D5DB51-5CCC-7C10-C37E-6244CAE66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E6EC28-19FA-B8EC-EF1F-9574F0C93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EC5E92-E991-DDFE-9CAF-6D0593BD38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BD4A78-41CB-4375-8E23-36612589452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4A42E2-55A3-716A-D750-072E71179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7E8AA0-8FEB-DF21-9FAD-F07AD7A47A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1C5FE6-0251-4325-93CE-3BB3752DC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834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53459C8B-A6D3-46AD-B34D-D76B9B8E982A}"/>
              </a:ext>
            </a:extLst>
          </p:cNvPr>
          <p:cNvSpPr/>
          <p:nvPr/>
        </p:nvSpPr>
        <p:spPr>
          <a:xfrm>
            <a:off x="7460343" y="0"/>
            <a:ext cx="4731657" cy="6858000"/>
          </a:xfrm>
          <a:custGeom>
            <a:avLst/>
            <a:gdLst>
              <a:gd name="csX0" fmla="*/ 3110376 w 4731657"/>
              <a:gd name="csY0" fmla="*/ 0 h 6858000"/>
              <a:gd name="csX1" fmla="*/ 4731657 w 4731657"/>
              <a:gd name="csY1" fmla="*/ 0 h 6858000"/>
              <a:gd name="csX2" fmla="*/ 4731657 w 4731657"/>
              <a:gd name="csY2" fmla="*/ 6858000 h 6858000"/>
              <a:gd name="csX3" fmla="*/ 2025251 w 4731657"/>
              <a:gd name="csY3" fmla="*/ 6858000 h 6858000"/>
              <a:gd name="csX4" fmla="*/ 2408315 w 4731657"/>
              <a:gd name="csY4" fmla="*/ 6776592 h 6858000"/>
              <a:gd name="csX5" fmla="*/ 3336949 w 4731657"/>
              <a:gd name="csY5" fmla="*/ 6405391 h 6858000"/>
              <a:gd name="csX6" fmla="*/ 3629630 w 4731657"/>
              <a:gd name="csY6" fmla="*/ 4517363 h 6858000"/>
              <a:gd name="csX7" fmla="*/ 667697 w 4731657"/>
              <a:gd name="csY7" fmla="*/ 4453144 h 6858000"/>
              <a:gd name="csX8" fmla="*/ 831598 w 4731657"/>
              <a:gd name="csY8" fmla="*/ 3566927 h 6858000"/>
              <a:gd name="csX9" fmla="*/ 3442315 w 4731657"/>
              <a:gd name="csY9" fmla="*/ 3348583 h 6858000"/>
              <a:gd name="csX10" fmla="*/ 3091097 w 4731657"/>
              <a:gd name="csY10" fmla="*/ 1666055 h 6858000"/>
              <a:gd name="csX11" fmla="*/ 246236 w 4731657"/>
              <a:gd name="csY11" fmla="*/ 1640367 h 6858000"/>
              <a:gd name="csX12" fmla="*/ 492089 w 4731657"/>
              <a:gd name="csY12" fmla="*/ 869744 h 6858000"/>
              <a:gd name="csX13" fmla="*/ 3278413 w 4731657"/>
              <a:gd name="csY13" fmla="*/ 805524 h 6858000"/>
              <a:gd name="csX14" fmla="*/ 3126219 w 4731657"/>
              <a:gd name="csY14" fmla="*/ 22058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731657" h="6858000">
                <a:moveTo>
                  <a:pt x="3110376" y="0"/>
                </a:moveTo>
                <a:lnTo>
                  <a:pt x="4731657" y="0"/>
                </a:lnTo>
                <a:lnTo>
                  <a:pt x="4731657" y="6858000"/>
                </a:lnTo>
                <a:lnTo>
                  <a:pt x="2025251" y="6858000"/>
                </a:lnTo>
                <a:lnTo>
                  <a:pt x="2408315" y="6776592"/>
                </a:lnTo>
                <a:cubicBezTo>
                  <a:pt x="2810398" y="6684842"/>
                  <a:pt x="3205243" y="6567543"/>
                  <a:pt x="3336949" y="6405391"/>
                </a:cubicBezTo>
                <a:cubicBezTo>
                  <a:pt x="3688167" y="5972985"/>
                  <a:pt x="4074505" y="4842737"/>
                  <a:pt x="3629630" y="4517363"/>
                </a:cubicBezTo>
                <a:cubicBezTo>
                  <a:pt x="3184755" y="4191989"/>
                  <a:pt x="1134036" y="4611550"/>
                  <a:pt x="667697" y="4453144"/>
                </a:cubicBezTo>
                <a:cubicBezTo>
                  <a:pt x="201359" y="4294739"/>
                  <a:pt x="369162" y="3751020"/>
                  <a:pt x="831598" y="3566927"/>
                </a:cubicBezTo>
                <a:cubicBezTo>
                  <a:pt x="1294035" y="3382834"/>
                  <a:pt x="3065731" y="3665396"/>
                  <a:pt x="3442315" y="3348583"/>
                </a:cubicBezTo>
                <a:cubicBezTo>
                  <a:pt x="3818898" y="3031772"/>
                  <a:pt x="3623777" y="1950758"/>
                  <a:pt x="3091097" y="1666055"/>
                </a:cubicBezTo>
                <a:cubicBezTo>
                  <a:pt x="2558417" y="1381352"/>
                  <a:pt x="679405" y="1773086"/>
                  <a:pt x="246236" y="1640367"/>
                </a:cubicBezTo>
                <a:cubicBezTo>
                  <a:pt x="-186932" y="1507649"/>
                  <a:pt x="-13276" y="1008884"/>
                  <a:pt x="492089" y="869744"/>
                </a:cubicBezTo>
                <a:cubicBezTo>
                  <a:pt x="997452" y="730604"/>
                  <a:pt x="2839392" y="946806"/>
                  <a:pt x="3278413" y="805524"/>
                </a:cubicBezTo>
                <a:cubicBezTo>
                  <a:pt x="3717435" y="664244"/>
                  <a:pt x="3229632" y="244681"/>
                  <a:pt x="3126219" y="22058"/>
                </a:cubicBezTo>
                <a:close/>
              </a:path>
            </a:pathLst>
          </a:custGeom>
          <a:solidFill>
            <a:schemeClr val="accent1"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5BD47FC-7C78-825D-8230-1D33C270EB56}"/>
              </a:ext>
            </a:extLst>
          </p:cNvPr>
          <p:cNvSpPr/>
          <p:nvPr/>
        </p:nvSpPr>
        <p:spPr>
          <a:xfrm>
            <a:off x="9027886" y="1866900"/>
            <a:ext cx="1219200" cy="1219200"/>
          </a:xfrm>
          <a:prstGeom prst="ellipse">
            <a:avLst/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C88DEA3-00E2-4B55-0D3B-58ACBF5D6216}"/>
              </a:ext>
            </a:extLst>
          </p:cNvPr>
          <p:cNvSpPr/>
          <p:nvPr/>
        </p:nvSpPr>
        <p:spPr>
          <a:xfrm>
            <a:off x="9042399" y="5638799"/>
            <a:ext cx="1567543" cy="12006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7BF4A451-034B-02DC-7237-F14E1D8EC0A5}"/>
              </a:ext>
            </a:extLst>
          </p:cNvPr>
          <p:cNvSpPr/>
          <p:nvPr/>
        </p:nvSpPr>
        <p:spPr>
          <a:xfrm>
            <a:off x="1" y="6274371"/>
            <a:ext cx="958851" cy="583629"/>
          </a:xfrm>
          <a:custGeom>
            <a:avLst/>
            <a:gdLst>
              <a:gd name="csX0" fmla="*/ 0 w 958851"/>
              <a:gd name="csY0" fmla="*/ 0 h 583629"/>
              <a:gd name="csX1" fmla="*/ 852030 w 958851"/>
              <a:gd name="csY1" fmla="*/ 0 h 583629"/>
              <a:gd name="csX2" fmla="*/ 958851 w 958851"/>
              <a:gd name="csY2" fmla="*/ 291213 h 583629"/>
              <a:gd name="csX3" fmla="*/ 958851 w 958851"/>
              <a:gd name="csY3" fmla="*/ 583629 h 583629"/>
              <a:gd name="csX4" fmla="*/ 0 w 958851"/>
              <a:gd name="csY4" fmla="*/ 583629 h 583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58851" h="583629">
                <a:moveTo>
                  <a:pt x="0" y="0"/>
                </a:moveTo>
                <a:lnTo>
                  <a:pt x="852030" y="0"/>
                </a:lnTo>
                <a:cubicBezTo>
                  <a:pt x="911025" y="0"/>
                  <a:pt x="958851" y="130381"/>
                  <a:pt x="958851" y="291213"/>
                </a:cubicBezTo>
                <a:lnTo>
                  <a:pt x="958851" y="583629"/>
                </a:lnTo>
                <a:lnTo>
                  <a:pt x="0" y="583629"/>
                </a:lnTo>
                <a:close/>
              </a:path>
            </a:pathLst>
          </a:custGeom>
          <a:solidFill>
            <a:schemeClr val="accent3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26BDDACE-BAEF-E625-9701-9419DF11201B}"/>
              </a:ext>
            </a:extLst>
          </p:cNvPr>
          <p:cNvSpPr/>
          <p:nvPr/>
        </p:nvSpPr>
        <p:spPr>
          <a:xfrm>
            <a:off x="819328" y="1860779"/>
            <a:ext cx="702890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IN" sz="6000" b="1" dirty="0"/>
              <a:t>MIS Analyst Internship – Business Intelligence &amp; Automation</a:t>
            </a:r>
            <a:endParaRPr lang="en-US" sz="6000" b="1" dirty="0">
              <a:latin typeface="+mj-lt"/>
            </a:endParaRPr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BB7B5DB0-136D-770B-8690-E65FE26FD020}"/>
              </a:ext>
            </a:extLst>
          </p:cNvPr>
          <p:cNvSpPr txBox="1"/>
          <p:nvPr/>
        </p:nvSpPr>
        <p:spPr>
          <a:xfrm>
            <a:off x="958851" y="1492357"/>
            <a:ext cx="1547213" cy="6673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86A72D9F-F6C0-B31D-6D1B-32BB113164EA}"/>
              </a:ext>
            </a:extLst>
          </p:cNvPr>
          <p:cNvSpPr/>
          <p:nvPr/>
        </p:nvSpPr>
        <p:spPr>
          <a:xfrm>
            <a:off x="7005437" y="5496877"/>
            <a:ext cx="29303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latin typeface="+mj-lt"/>
              </a:rPr>
              <a:t>P</a:t>
            </a:r>
            <a:r>
              <a:rPr lang="en-IN" sz="2000" b="1" dirty="0">
                <a:latin typeface="+mj-lt"/>
              </a:rPr>
              <a:t>RESENTED BY:</a:t>
            </a:r>
          </a:p>
          <a:p>
            <a:pPr>
              <a:lnSpc>
                <a:spcPct val="90000"/>
              </a:lnSpc>
            </a:pPr>
            <a:r>
              <a:rPr lang="en-IN" sz="2000" dirty="0">
                <a:latin typeface="+mj-lt"/>
              </a:rPr>
              <a:t>KEDARI SRI VENKATESH</a:t>
            </a:r>
            <a:endParaRPr lang="en-US" sz="2000" dirty="0">
              <a:latin typeface="+mj-lt"/>
            </a:endParaRPr>
          </a:p>
        </p:txBody>
      </p:sp>
      <p:pic>
        <p:nvPicPr>
          <p:cNvPr id="4" name="Picture 3" descr="KultureHire | LinkedIn">
            <a:extLst>
              <a:ext uri="{FF2B5EF4-FFF2-40B4-BE49-F238E27FC236}">
                <a16:creationId xmlns:a16="http://schemas.microsoft.com/office/drawing/2014/main" id="{F46C9595-BFB1-7951-89A4-42DC7C6D6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377" y="158085"/>
            <a:ext cx="1206159" cy="1206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10">
            <a:extLst>
              <a:ext uri="{FF2B5EF4-FFF2-40B4-BE49-F238E27FC236}">
                <a16:creationId xmlns:a16="http://schemas.microsoft.com/office/drawing/2014/main" id="{B774B282-D2A3-D98B-0908-C6A832B42A1F}"/>
              </a:ext>
            </a:extLst>
          </p:cNvPr>
          <p:cNvSpPr/>
          <p:nvPr/>
        </p:nvSpPr>
        <p:spPr>
          <a:xfrm>
            <a:off x="672462" y="5496877"/>
            <a:ext cx="34022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IN" sz="2000" b="1" dirty="0"/>
              <a:t>Mentor &amp; Guide:</a:t>
            </a:r>
            <a:br>
              <a:rPr lang="en-IN" sz="2000" dirty="0"/>
            </a:br>
            <a:r>
              <a:rPr lang="en-IN" sz="2000" dirty="0"/>
              <a:t>Mr. Kadhiravan </a:t>
            </a:r>
            <a:r>
              <a:rPr lang="en-IN" sz="2000" dirty="0" err="1"/>
              <a:t>Jayachandira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5833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2DB61-023C-E0D5-EF62-A09A6D10E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C625803F-DC20-0358-BBB9-A799EDA22E7E}"/>
              </a:ext>
            </a:extLst>
          </p:cNvPr>
          <p:cNvSpPr txBox="1"/>
          <p:nvPr/>
        </p:nvSpPr>
        <p:spPr>
          <a:xfrm>
            <a:off x="634189" y="784867"/>
            <a:ext cx="89678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Acknowledgment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20D4DC09-5AC1-44A9-6E50-CE6364EB3155}"/>
              </a:ext>
            </a:extLst>
          </p:cNvPr>
          <p:cNvSpPr txBox="1"/>
          <p:nvPr/>
        </p:nvSpPr>
        <p:spPr>
          <a:xfrm>
            <a:off x="634190" y="1859280"/>
            <a:ext cx="11132360" cy="23698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1"/>
          </a:gra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4DB72919-9F85-3EE2-E597-54598BF9182B}"/>
              </a:ext>
            </a:extLst>
          </p:cNvPr>
          <p:cNvSpPr txBox="1"/>
          <p:nvPr/>
        </p:nvSpPr>
        <p:spPr>
          <a:xfrm rot="16200000">
            <a:off x="573797" y="3651925"/>
            <a:ext cx="665534" cy="544749"/>
          </a:xfrm>
          <a:prstGeom prst="halfFrame">
            <a:avLst>
              <a:gd name="adj1" fmla="val 23809"/>
              <a:gd name="adj2" fmla="val 22885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35EFE63D-769B-D72C-46A9-66A611C03EC4}"/>
              </a:ext>
            </a:extLst>
          </p:cNvPr>
          <p:cNvSpPr txBox="1"/>
          <p:nvPr/>
        </p:nvSpPr>
        <p:spPr>
          <a:xfrm>
            <a:off x="1178939" y="2769123"/>
            <a:ext cx="9630920" cy="8224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just"/>
            <a:r>
              <a:rPr lang="en-IN" sz="1600" dirty="0"/>
              <a:t>I would like to express my sincere gratitude to </a:t>
            </a:r>
            <a:r>
              <a:rPr lang="en-IN" sz="1600" b="1" dirty="0"/>
              <a:t>Mr. Kadhiravan </a:t>
            </a:r>
            <a:r>
              <a:rPr lang="en-IN" sz="1600" b="1" dirty="0" err="1"/>
              <a:t>Jayachandiran</a:t>
            </a:r>
            <a:r>
              <a:rPr lang="en-IN" sz="1600" dirty="0"/>
              <a:t>, my </a:t>
            </a:r>
            <a:r>
              <a:rPr lang="en-IN" sz="1600" b="1" dirty="0"/>
              <a:t>Mentor &amp; Guide</a:t>
            </a:r>
            <a:r>
              <a:rPr lang="en-IN" sz="1600" dirty="0"/>
              <a:t>, for his continuous guidance, valuable insights, and support throughout my MIS Analyst internship at </a:t>
            </a:r>
            <a:r>
              <a:rPr lang="en-IN" sz="1600" dirty="0" err="1"/>
              <a:t>KultureHire</a:t>
            </a:r>
            <a:r>
              <a:rPr lang="en-IN" sz="1600" dirty="0"/>
              <a:t>. His mentorship helped me develop practical skills in data analysis, SQL, dashboard development, and automation, making this internship a valuable learning experience.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8B52A02B-B242-156D-2017-C88E273A0D83}"/>
              </a:ext>
            </a:extLst>
          </p:cNvPr>
          <p:cNvSpPr txBox="1"/>
          <p:nvPr/>
        </p:nvSpPr>
        <p:spPr>
          <a:xfrm>
            <a:off x="1178939" y="2187740"/>
            <a:ext cx="2959924" cy="43154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r>
              <a:rPr kumimoji="1" lang="en-US" altLang="zh-CN" sz="2000" dirty="0">
                <a:ln w="12700">
                  <a:noFill/>
                </a:ln>
                <a:latin typeface="+mj-ea"/>
                <a:ea typeface="+mj-ea"/>
                <a:cs typeface="Source Han Sans CN Bold Bold"/>
              </a:rPr>
              <a:t>My Clear Statement:</a:t>
            </a: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521719BD-AB15-5E2D-97D3-63B6025BDE14}"/>
              </a:ext>
            </a:extLst>
          </p:cNvPr>
          <p:cNvSpPr txBox="1"/>
          <p:nvPr/>
        </p:nvSpPr>
        <p:spPr>
          <a:xfrm>
            <a:off x="630931" y="5011330"/>
            <a:ext cx="4780926" cy="158611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1400" dirty="0"/>
              <a:t>This internship strengthened my technical and professional skills, including data management, business analysis, problem-solving, and communication. It has prepared me to confidently pursue a career in Management Information Systems and Business Intelligence.</a:t>
            </a:r>
            <a:endParaRPr kumimoji="1" lang="en-US" altLang="zh-CN" sz="1400" dirty="0">
              <a:ln w="12700">
                <a:noFill/>
              </a:ln>
              <a:latin typeface="+mn-ea"/>
              <a:cs typeface="Source Han Sans CN Bold Bold"/>
            </a:endParaRP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1B4C0855-C28A-AE77-9F25-FFF95F0C32F5}"/>
              </a:ext>
            </a:extLst>
          </p:cNvPr>
          <p:cNvSpPr txBox="1"/>
          <p:nvPr/>
        </p:nvSpPr>
        <p:spPr>
          <a:xfrm>
            <a:off x="630931" y="4680769"/>
            <a:ext cx="4055940" cy="39841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IN" b="1" dirty="0"/>
              <a:t>Learning &amp; Growth</a:t>
            </a:r>
            <a:endParaRPr kumimoji="1" lang="en-US" altLang="zh-CN" b="1" dirty="0">
              <a:ln w="12700">
                <a:noFill/>
              </a:ln>
              <a:solidFill>
                <a:schemeClr val="accent1"/>
              </a:solidFill>
              <a:latin typeface="+mj-ea"/>
              <a:ea typeface="+mj-ea"/>
              <a:cs typeface="Source Han Sans CN Bold Bold"/>
            </a:endParaRPr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FE8DA80E-8134-E21B-9215-0B92E7AC3DB3}"/>
              </a:ext>
            </a:extLst>
          </p:cNvPr>
          <p:cNvSpPr txBox="1"/>
          <p:nvPr/>
        </p:nvSpPr>
        <p:spPr>
          <a:xfrm>
            <a:off x="6753919" y="5079182"/>
            <a:ext cx="4780926" cy="136488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1400" dirty="0"/>
              <a:t>I sincerely thank </a:t>
            </a:r>
            <a:r>
              <a:rPr lang="en-IN" sz="1400" dirty="0" err="1"/>
              <a:t>KultureHire</a:t>
            </a:r>
            <a:r>
              <a:rPr lang="en-IN" sz="1400" dirty="0"/>
              <a:t> for providing me with the opportunity to work as an MIS Analyst Intern. The internship offered valuable exposure to real-world business analytics, reporting, dashboard development, and automation.</a:t>
            </a:r>
          </a:p>
        </p:txBody>
      </p:sp>
      <p:sp>
        <p:nvSpPr>
          <p:cNvPr id="25" name="标题 1">
            <a:extLst>
              <a:ext uri="{FF2B5EF4-FFF2-40B4-BE49-F238E27FC236}">
                <a16:creationId xmlns:a16="http://schemas.microsoft.com/office/drawing/2014/main" id="{D10538F1-FFCF-175E-0AE3-28C84BA8B5EA}"/>
              </a:ext>
            </a:extLst>
          </p:cNvPr>
          <p:cNvSpPr txBox="1"/>
          <p:nvPr/>
        </p:nvSpPr>
        <p:spPr>
          <a:xfrm>
            <a:off x="6753919" y="4680769"/>
            <a:ext cx="4055940" cy="39841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IN" b="1" dirty="0"/>
              <a:t>Gratitude to </a:t>
            </a:r>
            <a:r>
              <a:rPr lang="en-IN" b="1" dirty="0" err="1"/>
              <a:t>KultureHire</a:t>
            </a:r>
            <a:endParaRPr kumimoji="1" lang="en-US" altLang="zh-CN" b="1" dirty="0">
              <a:ln w="12700">
                <a:noFill/>
              </a:ln>
              <a:solidFill>
                <a:schemeClr val="accent1"/>
              </a:solidFill>
              <a:latin typeface="+mj-ea"/>
              <a:ea typeface="+mj-ea"/>
              <a:cs typeface="Source Han Sans CN Bold Bold"/>
            </a:endParaRPr>
          </a:p>
        </p:txBody>
      </p:sp>
    </p:spTree>
    <p:extLst>
      <p:ext uri="{BB962C8B-B14F-4D97-AF65-F5344CB8AC3E}">
        <p14:creationId xmlns:p14="http://schemas.microsoft.com/office/powerpoint/2010/main" val="1786026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D3391-15A1-C606-C689-F44D26AD4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3">
            <a:extLst>
              <a:ext uri="{FF2B5EF4-FFF2-40B4-BE49-F238E27FC236}">
                <a16:creationId xmlns:a16="http://schemas.microsoft.com/office/drawing/2014/main" id="{8C7619F7-F55E-B15A-DC7A-59AD55190C57}"/>
              </a:ext>
            </a:extLst>
          </p:cNvPr>
          <p:cNvSpPr/>
          <p:nvPr/>
        </p:nvSpPr>
        <p:spPr>
          <a:xfrm>
            <a:off x="634378" y="649893"/>
            <a:ext cx="5705072" cy="2111610"/>
          </a:xfrm>
          <a:prstGeom prst="roundRect">
            <a:avLst>
              <a:gd name="adj" fmla="val 6317"/>
            </a:avLst>
          </a:prstGeom>
          <a:solidFill>
            <a:schemeClr val="bg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3" name="Group 11">
            <a:extLst>
              <a:ext uri="{FF2B5EF4-FFF2-40B4-BE49-F238E27FC236}">
                <a16:creationId xmlns:a16="http://schemas.microsoft.com/office/drawing/2014/main" id="{33A1EE13-7EC2-016E-3B8E-5A019EA3985A}"/>
              </a:ext>
            </a:extLst>
          </p:cNvPr>
          <p:cNvGrpSpPr/>
          <p:nvPr/>
        </p:nvGrpSpPr>
        <p:grpSpPr>
          <a:xfrm>
            <a:off x="522776" y="499166"/>
            <a:ext cx="448697" cy="448697"/>
            <a:chOff x="6271755" y="4765404"/>
            <a:chExt cx="448697" cy="448697"/>
          </a:xfrm>
        </p:grpSpPr>
        <p:sp>
          <p:nvSpPr>
            <p:cNvPr id="4" name="Rounded Rectangle 12">
              <a:extLst>
                <a:ext uri="{FF2B5EF4-FFF2-40B4-BE49-F238E27FC236}">
                  <a16:creationId xmlns:a16="http://schemas.microsoft.com/office/drawing/2014/main" id="{142DD9B1-770E-6318-10EE-569D95F09E9E}"/>
                </a:ext>
              </a:extLst>
            </p:cNvPr>
            <p:cNvSpPr/>
            <p:nvPr/>
          </p:nvSpPr>
          <p:spPr>
            <a:xfrm>
              <a:off x="6271755" y="4765404"/>
              <a:ext cx="448697" cy="448697"/>
            </a:xfrm>
            <a:prstGeom prst="roundRect">
              <a:avLst/>
            </a:prstGeom>
            <a:solidFill>
              <a:schemeClr val="accent1"/>
            </a:solidFill>
            <a:ln w="63500">
              <a:noFill/>
            </a:ln>
            <a:effectLst>
              <a:outerShdw blurRad="635000" dist="152400" dir="2700000" algn="tl" rotWithShape="0">
                <a:schemeClr val="tx2">
                  <a:alpha val="1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5" name="Group 13">
              <a:extLst>
                <a:ext uri="{FF2B5EF4-FFF2-40B4-BE49-F238E27FC236}">
                  <a16:creationId xmlns:a16="http://schemas.microsoft.com/office/drawing/2014/main" id="{E2828640-0763-CD68-DCD7-39D001297BB9}"/>
                </a:ext>
              </a:extLst>
            </p:cNvPr>
            <p:cNvGrpSpPr/>
            <p:nvPr/>
          </p:nvGrpSpPr>
          <p:grpSpPr>
            <a:xfrm>
              <a:off x="6383357" y="4880167"/>
              <a:ext cx="225492" cy="219171"/>
              <a:chOff x="1662465" y="2461922"/>
              <a:chExt cx="200953" cy="195320"/>
            </a:xfrm>
            <a:solidFill>
              <a:schemeClr val="bg1"/>
            </a:solidFill>
          </p:grpSpPr>
          <p:sp>
            <p:nvSpPr>
              <p:cNvPr id="6" name="Freeform 14">
                <a:extLst>
                  <a:ext uri="{FF2B5EF4-FFF2-40B4-BE49-F238E27FC236}">
                    <a16:creationId xmlns:a16="http://schemas.microsoft.com/office/drawing/2014/main" id="{B7FCC223-14B2-4BE3-FFEE-DAB4153A5DBD}"/>
                  </a:ext>
                </a:extLst>
              </p:cNvPr>
              <p:cNvSpPr/>
              <p:nvPr/>
            </p:nvSpPr>
            <p:spPr>
              <a:xfrm>
                <a:off x="1662465" y="2461922"/>
                <a:ext cx="200953" cy="87917"/>
              </a:xfrm>
              <a:custGeom>
                <a:avLst/>
                <a:gdLst>
                  <a:gd name="connsiteX0" fmla="*/ 2762 w 152400"/>
                  <a:gd name="connsiteY0" fmla="*/ 42410 h 66675"/>
                  <a:gd name="connsiteX1" fmla="*/ 74200 w 152400"/>
                  <a:gd name="connsiteY1" fmla="*/ 75748 h 66675"/>
                  <a:gd name="connsiteX2" fmla="*/ 76210 w 152400"/>
                  <a:gd name="connsiteY2" fmla="*/ 76195 h 66675"/>
                  <a:gd name="connsiteX3" fmla="*/ 78219 w 152400"/>
                  <a:gd name="connsiteY3" fmla="*/ 75748 h 66675"/>
                  <a:gd name="connsiteX4" fmla="*/ 149657 w 152400"/>
                  <a:gd name="connsiteY4" fmla="*/ 42410 h 66675"/>
                  <a:gd name="connsiteX5" fmla="*/ 152400 w 152400"/>
                  <a:gd name="connsiteY5" fmla="*/ 38095 h 66675"/>
                  <a:gd name="connsiteX6" fmla="*/ 149657 w 152400"/>
                  <a:gd name="connsiteY6" fmla="*/ 33780 h 66675"/>
                  <a:gd name="connsiteX7" fmla="*/ 78219 w 152400"/>
                  <a:gd name="connsiteY7" fmla="*/ 443 h 66675"/>
                  <a:gd name="connsiteX8" fmla="*/ 74190 w 152400"/>
                  <a:gd name="connsiteY8" fmla="*/ 443 h 66675"/>
                  <a:gd name="connsiteX9" fmla="*/ 2753 w 152400"/>
                  <a:gd name="connsiteY9" fmla="*/ 33780 h 66675"/>
                  <a:gd name="connsiteX10" fmla="*/ 0 w 152400"/>
                  <a:gd name="connsiteY10" fmla="*/ 38095 h 66675"/>
                  <a:gd name="connsiteX11" fmla="*/ 2762 w 152400"/>
                  <a:gd name="connsiteY11" fmla="*/ 4241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52400" h="66675">
                    <a:moveTo>
                      <a:pt x="2762" y="42410"/>
                    </a:moveTo>
                    <a:lnTo>
                      <a:pt x="74200" y="75748"/>
                    </a:lnTo>
                    <a:cubicBezTo>
                      <a:pt x="74838" y="76043"/>
                      <a:pt x="75524" y="76195"/>
                      <a:pt x="76210" y="76195"/>
                    </a:cubicBezTo>
                    <a:cubicBezTo>
                      <a:pt x="76895" y="76195"/>
                      <a:pt x="77591" y="76043"/>
                      <a:pt x="78219" y="75748"/>
                    </a:cubicBezTo>
                    <a:lnTo>
                      <a:pt x="149657" y="42410"/>
                    </a:lnTo>
                    <a:cubicBezTo>
                      <a:pt x="151333" y="41629"/>
                      <a:pt x="152400" y="39943"/>
                      <a:pt x="152400" y="38095"/>
                    </a:cubicBezTo>
                    <a:cubicBezTo>
                      <a:pt x="152400" y="36247"/>
                      <a:pt x="151333" y="34561"/>
                      <a:pt x="149657" y="33780"/>
                    </a:cubicBezTo>
                    <a:lnTo>
                      <a:pt x="78219" y="443"/>
                    </a:lnTo>
                    <a:cubicBezTo>
                      <a:pt x="76943" y="-148"/>
                      <a:pt x="75467" y="-148"/>
                      <a:pt x="74190" y="443"/>
                    </a:cubicBezTo>
                    <a:lnTo>
                      <a:pt x="2753" y="33780"/>
                    </a:lnTo>
                    <a:cubicBezTo>
                      <a:pt x="1076" y="34561"/>
                      <a:pt x="0" y="36247"/>
                      <a:pt x="0" y="38095"/>
                    </a:cubicBezTo>
                    <a:cubicBezTo>
                      <a:pt x="0" y="39943"/>
                      <a:pt x="1076" y="41629"/>
                      <a:pt x="2762" y="424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 15">
                <a:extLst>
                  <a:ext uri="{FF2B5EF4-FFF2-40B4-BE49-F238E27FC236}">
                    <a16:creationId xmlns:a16="http://schemas.microsoft.com/office/drawing/2014/main" id="{B071DD97-2CE2-A32F-E0E4-DEAE9B917E18}"/>
                  </a:ext>
                </a:extLst>
              </p:cNvPr>
              <p:cNvSpPr/>
              <p:nvPr/>
            </p:nvSpPr>
            <p:spPr>
              <a:xfrm>
                <a:off x="1662479" y="2544206"/>
                <a:ext cx="188393" cy="62798"/>
              </a:xfrm>
              <a:custGeom>
                <a:avLst/>
                <a:gdLst>
                  <a:gd name="connsiteX0" fmla="*/ 149657 w 142875"/>
                  <a:gd name="connsiteY0" fmla="*/ 9477 h 47625"/>
                  <a:gd name="connsiteX1" fmla="*/ 129350 w 142875"/>
                  <a:gd name="connsiteY1" fmla="*/ 0 h 47625"/>
                  <a:gd name="connsiteX2" fmla="*/ 82248 w 142875"/>
                  <a:gd name="connsiteY2" fmla="*/ 21984 h 47625"/>
                  <a:gd name="connsiteX3" fmla="*/ 76210 w 142875"/>
                  <a:gd name="connsiteY3" fmla="*/ 23327 h 47625"/>
                  <a:gd name="connsiteX4" fmla="*/ 70161 w 142875"/>
                  <a:gd name="connsiteY4" fmla="*/ 21984 h 47625"/>
                  <a:gd name="connsiteX5" fmla="*/ 23060 w 142875"/>
                  <a:gd name="connsiteY5" fmla="*/ 0 h 47625"/>
                  <a:gd name="connsiteX6" fmla="*/ 2753 w 142875"/>
                  <a:gd name="connsiteY6" fmla="*/ 9477 h 47625"/>
                  <a:gd name="connsiteX7" fmla="*/ 0 w 142875"/>
                  <a:gd name="connsiteY7" fmla="*/ 13792 h 47625"/>
                  <a:gd name="connsiteX8" fmla="*/ 2753 w 142875"/>
                  <a:gd name="connsiteY8" fmla="*/ 18107 h 47625"/>
                  <a:gd name="connsiteX9" fmla="*/ 74190 w 142875"/>
                  <a:gd name="connsiteY9" fmla="*/ 51445 h 47625"/>
                  <a:gd name="connsiteX10" fmla="*/ 76200 w 142875"/>
                  <a:gd name="connsiteY10" fmla="*/ 51892 h 47625"/>
                  <a:gd name="connsiteX11" fmla="*/ 78210 w 142875"/>
                  <a:gd name="connsiteY11" fmla="*/ 51445 h 47625"/>
                  <a:gd name="connsiteX12" fmla="*/ 149647 w 142875"/>
                  <a:gd name="connsiteY12" fmla="*/ 18107 h 47625"/>
                  <a:gd name="connsiteX13" fmla="*/ 152391 w 142875"/>
                  <a:gd name="connsiteY13" fmla="*/ 13792 h 47625"/>
                  <a:gd name="connsiteX14" fmla="*/ 149657 w 142875"/>
                  <a:gd name="connsiteY14" fmla="*/ 9477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2875" h="47625">
                    <a:moveTo>
                      <a:pt x="149657" y="9477"/>
                    </a:moveTo>
                    <a:lnTo>
                      <a:pt x="129350" y="0"/>
                    </a:lnTo>
                    <a:lnTo>
                      <a:pt x="82248" y="21984"/>
                    </a:lnTo>
                    <a:cubicBezTo>
                      <a:pt x="80372" y="22860"/>
                      <a:pt x="78276" y="23327"/>
                      <a:pt x="76210" y="23327"/>
                    </a:cubicBezTo>
                    <a:cubicBezTo>
                      <a:pt x="74143" y="23327"/>
                      <a:pt x="72038" y="22860"/>
                      <a:pt x="70161" y="21984"/>
                    </a:cubicBezTo>
                    <a:lnTo>
                      <a:pt x="23060" y="0"/>
                    </a:lnTo>
                    <a:lnTo>
                      <a:pt x="2753" y="9477"/>
                    </a:lnTo>
                    <a:cubicBezTo>
                      <a:pt x="1076" y="10258"/>
                      <a:pt x="0" y="11944"/>
                      <a:pt x="0" y="13792"/>
                    </a:cubicBezTo>
                    <a:cubicBezTo>
                      <a:pt x="0" y="15640"/>
                      <a:pt x="1067" y="17326"/>
                      <a:pt x="2753" y="18107"/>
                    </a:cubicBezTo>
                    <a:lnTo>
                      <a:pt x="74190" y="51445"/>
                    </a:lnTo>
                    <a:cubicBezTo>
                      <a:pt x="74828" y="51740"/>
                      <a:pt x="75514" y="51892"/>
                      <a:pt x="76200" y="51892"/>
                    </a:cubicBezTo>
                    <a:cubicBezTo>
                      <a:pt x="76886" y="51892"/>
                      <a:pt x="77581" y="51740"/>
                      <a:pt x="78210" y="51445"/>
                    </a:cubicBezTo>
                    <a:lnTo>
                      <a:pt x="149647" y="18107"/>
                    </a:lnTo>
                    <a:cubicBezTo>
                      <a:pt x="151324" y="17326"/>
                      <a:pt x="152391" y="15640"/>
                      <a:pt x="152391" y="13792"/>
                    </a:cubicBezTo>
                    <a:cubicBezTo>
                      <a:pt x="152391" y="11944"/>
                      <a:pt x="151333" y="10258"/>
                      <a:pt x="149657" y="9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 16">
                <a:extLst>
                  <a:ext uri="{FF2B5EF4-FFF2-40B4-BE49-F238E27FC236}">
                    <a16:creationId xmlns:a16="http://schemas.microsoft.com/office/drawing/2014/main" id="{86D933C7-BF05-73CF-6BCF-C1F84A267A69}"/>
                  </a:ext>
                </a:extLst>
              </p:cNvPr>
              <p:cNvSpPr/>
              <p:nvPr/>
            </p:nvSpPr>
            <p:spPr>
              <a:xfrm>
                <a:off x="1662479" y="2594444"/>
                <a:ext cx="188393" cy="62798"/>
              </a:xfrm>
              <a:custGeom>
                <a:avLst/>
                <a:gdLst>
                  <a:gd name="connsiteX0" fmla="*/ 149657 w 142875"/>
                  <a:gd name="connsiteY0" fmla="*/ 9477 h 47625"/>
                  <a:gd name="connsiteX1" fmla="*/ 129350 w 142875"/>
                  <a:gd name="connsiteY1" fmla="*/ 0 h 47625"/>
                  <a:gd name="connsiteX2" fmla="*/ 82248 w 142875"/>
                  <a:gd name="connsiteY2" fmla="*/ 21984 h 47625"/>
                  <a:gd name="connsiteX3" fmla="*/ 76210 w 142875"/>
                  <a:gd name="connsiteY3" fmla="*/ 23327 h 47625"/>
                  <a:gd name="connsiteX4" fmla="*/ 70161 w 142875"/>
                  <a:gd name="connsiteY4" fmla="*/ 21984 h 47625"/>
                  <a:gd name="connsiteX5" fmla="*/ 23060 w 142875"/>
                  <a:gd name="connsiteY5" fmla="*/ 0 h 47625"/>
                  <a:gd name="connsiteX6" fmla="*/ 2753 w 142875"/>
                  <a:gd name="connsiteY6" fmla="*/ 9477 h 47625"/>
                  <a:gd name="connsiteX7" fmla="*/ 0 w 142875"/>
                  <a:gd name="connsiteY7" fmla="*/ 13792 h 47625"/>
                  <a:gd name="connsiteX8" fmla="*/ 2753 w 142875"/>
                  <a:gd name="connsiteY8" fmla="*/ 18107 h 47625"/>
                  <a:gd name="connsiteX9" fmla="*/ 74190 w 142875"/>
                  <a:gd name="connsiteY9" fmla="*/ 51445 h 47625"/>
                  <a:gd name="connsiteX10" fmla="*/ 76200 w 142875"/>
                  <a:gd name="connsiteY10" fmla="*/ 51892 h 47625"/>
                  <a:gd name="connsiteX11" fmla="*/ 78210 w 142875"/>
                  <a:gd name="connsiteY11" fmla="*/ 51445 h 47625"/>
                  <a:gd name="connsiteX12" fmla="*/ 149647 w 142875"/>
                  <a:gd name="connsiteY12" fmla="*/ 18107 h 47625"/>
                  <a:gd name="connsiteX13" fmla="*/ 152391 w 142875"/>
                  <a:gd name="connsiteY13" fmla="*/ 13792 h 47625"/>
                  <a:gd name="connsiteX14" fmla="*/ 149657 w 142875"/>
                  <a:gd name="connsiteY14" fmla="*/ 9477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2875" h="47625">
                    <a:moveTo>
                      <a:pt x="149657" y="9477"/>
                    </a:moveTo>
                    <a:lnTo>
                      <a:pt x="129350" y="0"/>
                    </a:lnTo>
                    <a:lnTo>
                      <a:pt x="82248" y="21984"/>
                    </a:lnTo>
                    <a:cubicBezTo>
                      <a:pt x="80372" y="22860"/>
                      <a:pt x="78276" y="23327"/>
                      <a:pt x="76210" y="23327"/>
                    </a:cubicBezTo>
                    <a:cubicBezTo>
                      <a:pt x="74143" y="23327"/>
                      <a:pt x="72038" y="22860"/>
                      <a:pt x="70161" y="21984"/>
                    </a:cubicBezTo>
                    <a:lnTo>
                      <a:pt x="23060" y="0"/>
                    </a:lnTo>
                    <a:lnTo>
                      <a:pt x="2753" y="9477"/>
                    </a:lnTo>
                    <a:cubicBezTo>
                      <a:pt x="1076" y="10258"/>
                      <a:pt x="0" y="11944"/>
                      <a:pt x="0" y="13792"/>
                    </a:cubicBezTo>
                    <a:cubicBezTo>
                      <a:pt x="0" y="15640"/>
                      <a:pt x="1067" y="17326"/>
                      <a:pt x="2753" y="18107"/>
                    </a:cubicBezTo>
                    <a:lnTo>
                      <a:pt x="74190" y="51445"/>
                    </a:lnTo>
                    <a:cubicBezTo>
                      <a:pt x="74828" y="51740"/>
                      <a:pt x="75514" y="51892"/>
                      <a:pt x="76200" y="51892"/>
                    </a:cubicBezTo>
                    <a:cubicBezTo>
                      <a:pt x="76886" y="51892"/>
                      <a:pt x="77581" y="51740"/>
                      <a:pt x="78210" y="51445"/>
                    </a:cubicBezTo>
                    <a:lnTo>
                      <a:pt x="149647" y="18107"/>
                    </a:lnTo>
                    <a:cubicBezTo>
                      <a:pt x="151324" y="17326"/>
                      <a:pt x="152391" y="15640"/>
                      <a:pt x="152391" y="13792"/>
                    </a:cubicBezTo>
                    <a:cubicBezTo>
                      <a:pt x="152391" y="11944"/>
                      <a:pt x="151333" y="10258"/>
                      <a:pt x="149657" y="9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1" name="标题 1">
            <a:extLst>
              <a:ext uri="{FF2B5EF4-FFF2-40B4-BE49-F238E27FC236}">
                <a16:creationId xmlns:a16="http://schemas.microsoft.com/office/drawing/2014/main" id="{71C49ED5-54E5-8054-168A-5A0A43573289}"/>
              </a:ext>
            </a:extLst>
          </p:cNvPr>
          <p:cNvSpPr txBox="1"/>
          <p:nvPr/>
        </p:nvSpPr>
        <p:spPr>
          <a:xfrm>
            <a:off x="1100125" y="1245136"/>
            <a:ext cx="4780926" cy="13931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1400" dirty="0"/>
              <a:t>During my internship at </a:t>
            </a:r>
            <a:r>
              <a:rPr lang="en-IN" sz="1400" b="1" dirty="0" err="1"/>
              <a:t>KultureHire</a:t>
            </a:r>
            <a:r>
              <a:rPr lang="en-IN" sz="1400" dirty="0"/>
              <a:t>, I worked on end-to-end MIS reporting by transforming raw business data into meaningful insights. The internship covered data collection, cleaning, SQL querying, dashboard development, and process automation.</a:t>
            </a:r>
            <a:endParaRPr kumimoji="1" lang="en-US" altLang="zh-CN" sz="1400" dirty="0">
              <a:ln w="12700">
                <a:noFill/>
              </a:ln>
              <a:latin typeface="+mn-ea"/>
              <a:cs typeface="Source Han Sans CN Bold Bold"/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41EC276E-739C-7BDE-C51D-42E2D58E2653}"/>
              </a:ext>
            </a:extLst>
          </p:cNvPr>
          <p:cNvSpPr txBox="1"/>
          <p:nvPr/>
        </p:nvSpPr>
        <p:spPr>
          <a:xfrm>
            <a:off x="1100125" y="803295"/>
            <a:ext cx="4055940" cy="39841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IN" b="1" dirty="0"/>
              <a:t>Project Overview:</a:t>
            </a:r>
            <a:endParaRPr kumimoji="1" lang="en-US" altLang="zh-CN" b="1" dirty="0">
              <a:ln w="12700">
                <a:noFill/>
              </a:ln>
              <a:solidFill>
                <a:schemeClr val="accent1"/>
              </a:solidFill>
              <a:latin typeface="+mj-ea"/>
              <a:ea typeface="+mj-ea"/>
              <a:cs typeface="Source Han Sans CN Bold Bold"/>
            </a:endParaRP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07368877-FCC7-5B34-9619-EBF6A3089A4F}"/>
              </a:ext>
            </a:extLst>
          </p:cNvPr>
          <p:cNvSpPr/>
          <p:nvPr/>
        </p:nvSpPr>
        <p:spPr>
          <a:xfrm>
            <a:off x="5993798" y="3457886"/>
            <a:ext cx="5705072" cy="2897242"/>
          </a:xfrm>
          <a:prstGeom prst="roundRect">
            <a:avLst>
              <a:gd name="adj" fmla="val 6317"/>
            </a:avLst>
          </a:prstGeom>
          <a:solidFill>
            <a:schemeClr val="bg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70842C5E-F356-9F3F-999B-6ED0C927DED6}"/>
              </a:ext>
            </a:extLst>
          </p:cNvPr>
          <p:cNvGrpSpPr/>
          <p:nvPr/>
        </p:nvGrpSpPr>
        <p:grpSpPr>
          <a:xfrm>
            <a:off x="5769449" y="6081249"/>
            <a:ext cx="448697" cy="448697"/>
            <a:chOff x="6271755" y="4765404"/>
            <a:chExt cx="448697" cy="448697"/>
          </a:xfrm>
        </p:grpSpPr>
        <p:sp>
          <p:nvSpPr>
            <p:cNvPr id="15" name="Rounded Rectangle 12">
              <a:extLst>
                <a:ext uri="{FF2B5EF4-FFF2-40B4-BE49-F238E27FC236}">
                  <a16:creationId xmlns:a16="http://schemas.microsoft.com/office/drawing/2014/main" id="{D1960FAD-A7E3-6483-926B-DC2C97190469}"/>
                </a:ext>
              </a:extLst>
            </p:cNvPr>
            <p:cNvSpPr/>
            <p:nvPr/>
          </p:nvSpPr>
          <p:spPr>
            <a:xfrm>
              <a:off x="6271755" y="4765404"/>
              <a:ext cx="448697" cy="448697"/>
            </a:xfrm>
            <a:prstGeom prst="roundRect">
              <a:avLst/>
            </a:prstGeom>
            <a:solidFill>
              <a:schemeClr val="accent1"/>
            </a:solidFill>
            <a:ln w="63500">
              <a:noFill/>
            </a:ln>
            <a:effectLst>
              <a:outerShdw blurRad="635000" dist="152400" dir="2700000" algn="tl" rotWithShape="0">
                <a:schemeClr val="tx2">
                  <a:alpha val="1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grpSp>
          <p:nvGrpSpPr>
            <p:cNvPr id="16" name="Group 13">
              <a:extLst>
                <a:ext uri="{FF2B5EF4-FFF2-40B4-BE49-F238E27FC236}">
                  <a16:creationId xmlns:a16="http://schemas.microsoft.com/office/drawing/2014/main" id="{729BFF1F-26C8-00C8-AB65-BB4CD51A0D9F}"/>
                </a:ext>
              </a:extLst>
            </p:cNvPr>
            <p:cNvGrpSpPr/>
            <p:nvPr/>
          </p:nvGrpSpPr>
          <p:grpSpPr>
            <a:xfrm>
              <a:off x="6383357" y="4880167"/>
              <a:ext cx="225492" cy="219171"/>
              <a:chOff x="1662465" y="2461922"/>
              <a:chExt cx="200953" cy="195320"/>
            </a:xfrm>
            <a:solidFill>
              <a:schemeClr val="bg1"/>
            </a:solidFill>
          </p:grpSpPr>
          <p:sp>
            <p:nvSpPr>
              <p:cNvPr id="17" name="Freeform 14">
                <a:extLst>
                  <a:ext uri="{FF2B5EF4-FFF2-40B4-BE49-F238E27FC236}">
                    <a16:creationId xmlns:a16="http://schemas.microsoft.com/office/drawing/2014/main" id="{949547DE-E63F-3ADB-BB59-2A4ED3D37E36}"/>
                  </a:ext>
                </a:extLst>
              </p:cNvPr>
              <p:cNvSpPr/>
              <p:nvPr/>
            </p:nvSpPr>
            <p:spPr>
              <a:xfrm>
                <a:off x="1662465" y="2461922"/>
                <a:ext cx="200953" cy="87917"/>
              </a:xfrm>
              <a:custGeom>
                <a:avLst/>
                <a:gdLst>
                  <a:gd name="connsiteX0" fmla="*/ 2762 w 152400"/>
                  <a:gd name="connsiteY0" fmla="*/ 42410 h 66675"/>
                  <a:gd name="connsiteX1" fmla="*/ 74200 w 152400"/>
                  <a:gd name="connsiteY1" fmla="*/ 75748 h 66675"/>
                  <a:gd name="connsiteX2" fmla="*/ 76210 w 152400"/>
                  <a:gd name="connsiteY2" fmla="*/ 76195 h 66675"/>
                  <a:gd name="connsiteX3" fmla="*/ 78219 w 152400"/>
                  <a:gd name="connsiteY3" fmla="*/ 75748 h 66675"/>
                  <a:gd name="connsiteX4" fmla="*/ 149657 w 152400"/>
                  <a:gd name="connsiteY4" fmla="*/ 42410 h 66675"/>
                  <a:gd name="connsiteX5" fmla="*/ 152400 w 152400"/>
                  <a:gd name="connsiteY5" fmla="*/ 38095 h 66675"/>
                  <a:gd name="connsiteX6" fmla="*/ 149657 w 152400"/>
                  <a:gd name="connsiteY6" fmla="*/ 33780 h 66675"/>
                  <a:gd name="connsiteX7" fmla="*/ 78219 w 152400"/>
                  <a:gd name="connsiteY7" fmla="*/ 443 h 66675"/>
                  <a:gd name="connsiteX8" fmla="*/ 74190 w 152400"/>
                  <a:gd name="connsiteY8" fmla="*/ 443 h 66675"/>
                  <a:gd name="connsiteX9" fmla="*/ 2753 w 152400"/>
                  <a:gd name="connsiteY9" fmla="*/ 33780 h 66675"/>
                  <a:gd name="connsiteX10" fmla="*/ 0 w 152400"/>
                  <a:gd name="connsiteY10" fmla="*/ 38095 h 66675"/>
                  <a:gd name="connsiteX11" fmla="*/ 2762 w 152400"/>
                  <a:gd name="connsiteY11" fmla="*/ 4241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52400" h="66675">
                    <a:moveTo>
                      <a:pt x="2762" y="42410"/>
                    </a:moveTo>
                    <a:lnTo>
                      <a:pt x="74200" y="75748"/>
                    </a:lnTo>
                    <a:cubicBezTo>
                      <a:pt x="74838" y="76043"/>
                      <a:pt x="75524" y="76195"/>
                      <a:pt x="76210" y="76195"/>
                    </a:cubicBezTo>
                    <a:cubicBezTo>
                      <a:pt x="76895" y="76195"/>
                      <a:pt x="77591" y="76043"/>
                      <a:pt x="78219" y="75748"/>
                    </a:cubicBezTo>
                    <a:lnTo>
                      <a:pt x="149657" y="42410"/>
                    </a:lnTo>
                    <a:cubicBezTo>
                      <a:pt x="151333" y="41629"/>
                      <a:pt x="152400" y="39943"/>
                      <a:pt x="152400" y="38095"/>
                    </a:cubicBezTo>
                    <a:cubicBezTo>
                      <a:pt x="152400" y="36247"/>
                      <a:pt x="151333" y="34561"/>
                      <a:pt x="149657" y="33780"/>
                    </a:cubicBezTo>
                    <a:lnTo>
                      <a:pt x="78219" y="443"/>
                    </a:lnTo>
                    <a:cubicBezTo>
                      <a:pt x="76943" y="-148"/>
                      <a:pt x="75467" y="-148"/>
                      <a:pt x="74190" y="443"/>
                    </a:cubicBezTo>
                    <a:lnTo>
                      <a:pt x="2753" y="33780"/>
                    </a:lnTo>
                    <a:cubicBezTo>
                      <a:pt x="1076" y="34561"/>
                      <a:pt x="0" y="36247"/>
                      <a:pt x="0" y="38095"/>
                    </a:cubicBezTo>
                    <a:cubicBezTo>
                      <a:pt x="0" y="39943"/>
                      <a:pt x="1076" y="41629"/>
                      <a:pt x="2762" y="424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5">
                <a:extLst>
                  <a:ext uri="{FF2B5EF4-FFF2-40B4-BE49-F238E27FC236}">
                    <a16:creationId xmlns:a16="http://schemas.microsoft.com/office/drawing/2014/main" id="{020FAC71-371F-2CF8-4BD5-A0B3BCA0E779}"/>
                  </a:ext>
                </a:extLst>
              </p:cNvPr>
              <p:cNvSpPr/>
              <p:nvPr/>
            </p:nvSpPr>
            <p:spPr>
              <a:xfrm>
                <a:off x="1662479" y="2544206"/>
                <a:ext cx="188393" cy="62798"/>
              </a:xfrm>
              <a:custGeom>
                <a:avLst/>
                <a:gdLst>
                  <a:gd name="connsiteX0" fmla="*/ 149657 w 142875"/>
                  <a:gd name="connsiteY0" fmla="*/ 9477 h 47625"/>
                  <a:gd name="connsiteX1" fmla="*/ 129350 w 142875"/>
                  <a:gd name="connsiteY1" fmla="*/ 0 h 47625"/>
                  <a:gd name="connsiteX2" fmla="*/ 82248 w 142875"/>
                  <a:gd name="connsiteY2" fmla="*/ 21984 h 47625"/>
                  <a:gd name="connsiteX3" fmla="*/ 76210 w 142875"/>
                  <a:gd name="connsiteY3" fmla="*/ 23327 h 47625"/>
                  <a:gd name="connsiteX4" fmla="*/ 70161 w 142875"/>
                  <a:gd name="connsiteY4" fmla="*/ 21984 h 47625"/>
                  <a:gd name="connsiteX5" fmla="*/ 23060 w 142875"/>
                  <a:gd name="connsiteY5" fmla="*/ 0 h 47625"/>
                  <a:gd name="connsiteX6" fmla="*/ 2753 w 142875"/>
                  <a:gd name="connsiteY6" fmla="*/ 9477 h 47625"/>
                  <a:gd name="connsiteX7" fmla="*/ 0 w 142875"/>
                  <a:gd name="connsiteY7" fmla="*/ 13792 h 47625"/>
                  <a:gd name="connsiteX8" fmla="*/ 2753 w 142875"/>
                  <a:gd name="connsiteY8" fmla="*/ 18107 h 47625"/>
                  <a:gd name="connsiteX9" fmla="*/ 74190 w 142875"/>
                  <a:gd name="connsiteY9" fmla="*/ 51445 h 47625"/>
                  <a:gd name="connsiteX10" fmla="*/ 76200 w 142875"/>
                  <a:gd name="connsiteY10" fmla="*/ 51892 h 47625"/>
                  <a:gd name="connsiteX11" fmla="*/ 78210 w 142875"/>
                  <a:gd name="connsiteY11" fmla="*/ 51445 h 47625"/>
                  <a:gd name="connsiteX12" fmla="*/ 149647 w 142875"/>
                  <a:gd name="connsiteY12" fmla="*/ 18107 h 47625"/>
                  <a:gd name="connsiteX13" fmla="*/ 152391 w 142875"/>
                  <a:gd name="connsiteY13" fmla="*/ 13792 h 47625"/>
                  <a:gd name="connsiteX14" fmla="*/ 149657 w 142875"/>
                  <a:gd name="connsiteY14" fmla="*/ 9477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2875" h="47625">
                    <a:moveTo>
                      <a:pt x="149657" y="9477"/>
                    </a:moveTo>
                    <a:lnTo>
                      <a:pt x="129350" y="0"/>
                    </a:lnTo>
                    <a:lnTo>
                      <a:pt x="82248" y="21984"/>
                    </a:lnTo>
                    <a:cubicBezTo>
                      <a:pt x="80372" y="22860"/>
                      <a:pt x="78276" y="23327"/>
                      <a:pt x="76210" y="23327"/>
                    </a:cubicBezTo>
                    <a:cubicBezTo>
                      <a:pt x="74143" y="23327"/>
                      <a:pt x="72038" y="22860"/>
                      <a:pt x="70161" y="21984"/>
                    </a:cubicBezTo>
                    <a:lnTo>
                      <a:pt x="23060" y="0"/>
                    </a:lnTo>
                    <a:lnTo>
                      <a:pt x="2753" y="9477"/>
                    </a:lnTo>
                    <a:cubicBezTo>
                      <a:pt x="1076" y="10258"/>
                      <a:pt x="0" y="11944"/>
                      <a:pt x="0" y="13792"/>
                    </a:cubicBezTo>
                    <a:cubicBezTo>
                      <a:pt x="0" y="15640"/>
                      <a:pt x="1067" y="17326"/>
                      <a:pt x="2753" y="18107"/>
                    </a:cubicBezTo>
                    <a:lnTo>
                      <a:pt x="74190" y="51445"/>
                    </a:lnTo>
                    <a:cubicBezTo>
                      <a:pt x="74828" y="51740"/>
                      <a:pt x="75514" y="51892"/>
                      <a:pt x="76200" y="51892"/>
                    </a:cubicBezTo>
                    <a:cubicBezTo>
                      <a:pt x="76886" y="51892"/>
                      <a:pt x="77581" y="51740"/>
                      <a:pt x="78210" y="51445"/>
                    </a:cubicBezTo>
                    <a:lnTo>
                      <a:pt x="149647" y="18107"/>
                    </a:lnTo>
                    <a:cubicBezTo>
                      <a:pt x="151324" y="17326"/>
                      <a:pt x="152391" y="15640"/>
                      <a:pt x="152391" y="13792"/>
                    </a:cubicBezTo>
                    <a:cubicBezTo>
                      <a:pt x="152391" y="11944"/>
                      <a:pt x="151333" y="10258"/>
                      <a:pt x="149657" y="9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16">
                <a:extLst>
                  <a:ext uri="{FF2B5EF4-FFF2-40B4-BE49-F238E27FC236}">
                    <a16:creationId xmlns:a16="http://schemas.microsoft.com/office/drawing/2014/main" id="{CCE22EC8-1A2E-9669-8948-027BEE1E0FCE}"/>
                  </a:ext>
                </a:extLst>
              </p:cNvPr>
              <p:cNvSpPr/>
              <p:nvPr/>
            </p:nvSpPr>
            <p:spPr>
              <a:xfrm>
                <a:off x="1662479" y="2594444"/>
                <a:ext cx="188393" cy="62798"/>
              </a:xfrm>
              <a:custGeom>
                <a:avLst/>
                <a:gdLst>
                  <a:gd name="connsiteX0" fmla="*/ 149657 w 142875"/>
                  <a:gd name="connsiteY0" fmla="*/ 9477 h 47625"/>
                  <a:gd name="connsiteX1" fmla="*/ 129350 w 142875"/>
                  <a:gd name="connsiteY1" fmla="*/ 0 h 47625"/>
                  <a:gd name="connsiteX2" fmla="*/ 82248 w 142875"/>
                  <a:gd name="connsiteY2" fmla="*/ 21984 h 47625"/>
                  <a:gd name="connsiteX3" fmla="*/ 76210 w 142875"/>
                  <a:gd name="connsiteY3" fmla="*/ 23327 h 47625"/>
                  <a:gd name="connsiteX4" fmla="*/ 70161 w 142875"/>
                  <a:gd name="connsiteY4" fmla="*/ 21984 h 47625"/>
                  <a:gd name="connsiteX5" fmla="*/ 23060 w 142875"/>
                  <a:gd name="connsiteY5" fmla="*/ 0 h 47625"/>
                  <a:gd name="connsiteX6" fmla="*/ 2753 w 142875"/>
                  <a:gd name="connsiteY6" fmla="*/ 9477 h 47625"/>
                  <a:gd name="connsiteX7" fmla="*/ 0 w 142875"/>
                  <a:gd name="connsiteY7" fmla="*/ 13792 h 47625"/>
                  <a:gd name="connsiteX8" fmla="*/ 2753 w 142875"/>
                  <a:gd name="connsiteY8" fmla="*/ 18107 h 47625"/>
                  <a:gd name="connsiteX9" fmla="*/ 74190 w 142875"/>
                  <a:gd name="connsiteY9" fmla="*/ 51445 h 47625"/>
                  <a:gd name="connsiteX10" fmla="*/ 76200 w 142875"/>
                  <a:gd name="connsiteY10" fmla="*/ 51892 h 47625"/>
                  <a:gd name="connsiteX11" fmla="*/ 78210 w 142875"/>
                  <a:gd name="connsiteY11" fmla="*/ 51445 h 47625"/>
                  <a:gd name="connsiteX12" fmla="*/ 149647 w 142875"/>
                  <a:gd name="connsiteY12" fmla="*/ 18107 h 47625"/>
                  <a:gd name="connsiteX13" fmla="*/ 152391 w 142875"/>
                  <a:gd name="connsiteY13" fmla="*/ 13792 h 47625"/>
                  <a:gd name="connsiteX14" fmla="*/ 149657 w 142875"/>
                  <a:gd name="connsiteY14" fmla="*/ 9477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2875" h="47625">
                    <a:moveTo>
                      <a:pt x="149657" y="9477"/>
                    </a:moveTo>
                    <a:lnTo>
                      <a:pt x="129350" y="0"/>
                    </a:lnTo>
                    <a:lnTo>
                      <a:pt x="82248" y="21984"/>
                    </a:lnTo>
                    <a:cubicBezTo>
                      <a:pt x="80372" y="22860"/>
                      <a:pt x="78276" y="23327"/>
                      <a:pt x="76210" y="23327"/>
                    </a:cubicBezTo>
                    <a:cubicBezTo>
                      <a:pt x="74143" y="23327"/>
                      <a:pt x="72038" y="22860"/>
                      <a:pt x="70161" y="21984"/>
                    </a:cubicBezTo>
                    <a:lnTo>
                      <a:pt x="23060" y="0"/>
                    </a:lnTo>
                    <a:lnTo>
                      <a:pt x="2753" y="9477"/>
                    </a:lnTo>
                    <a:cubicBezTo>
                      <a:pt x="1076" y="10258"/>
                      <a:pt x="0" y="11944"/>
                      <a:pt x="0" y="13792"/>
                    </a:cubicBezTo>
                    <a:cubicBezTo>
                      <a:pt x="0" y="15640"/>
                      <a:pt x="1067" y="17326"/>
                      <a:pt x="2753" y="18107"/>
                    </a:cubicBezTo>
                    <a:lnTo>
                      <a:pt x="74190" y="51445"/>
                    </a:lnTo>
                    <a:cubicBezTo>
                      <a:pt x="74828" y="51740"/>
                      <a:pt x="75514" y="51892"/>
                      <a:pt x="76200" y="51892"/>
                    </a:cubicBezTo>
                    <a:cubicBezTo>
                      <a:pt x="76886" y="51892"/>
                      <a:pt x="77581" y="51740"/>
                      <a:pt x="78210" y="51445"/>
                    </a:cubicBezTo>
                    <a:lnTo>
                      <a:pt x="149647" y="18107"/>
                    </a:lnTo>
                    <a:cubicBezTo>
                      <a:pt x="151324" y="17326"/>
                      <a:pt x="152391" y="15640"/>
                      <a:pt x="152391" y="13792"/>
                    </a:cubicBezTo>
                    <a:cubicBezTo>
                      <a:pt x="152391" y="11944"/>
                      <a:pt x="151333" y="10258"/>
                      <a:pt x="149657" y="9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7EF558A2-F03D-5E61-9188-959CEAE86183}"/>
              </a:ext>
            </a:extLst>
          </p:cNvPr>
          <p:cNvSpPr txBox="1"/>
          <p:nvPr/>
        </p:nvSpPr>
        <p:spPr>
          <a:xfrm>
            <a:off x="6605084" y="1314953"/>
            <a:ext cx="509378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4400" b="1" dirty="0"/>
              <a:t>Project Overview</a:t>
            </a:r>
          </a:p>
          <a:p>
            <a:pPr algn="r"/>
            <a:r>
              <a:rPr lang="en-IN" altLang="zh-CN" sz="4400" b="1" dirty="0">
                <a:latin typeface="+mj-ea"/>
                <a:ea typeface="+mj-ea"/>
              </a:rPr>
              <a:t>&amp; Objectives</a:t>
            </a:r>
            <a:endParaRPr lang="en-US" altLang="zh-CN" sz="4400" b="1" dirty="0">
              <a:latin typeface="+mj-ea"/>
              <a:ea typeface="+mj-ea"/>
            </a:endParaRPr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B6C5962E-7D14-4E4A-EEF8-7D324AB99BFA}"/>
              </a:ext>
            </a:extLst>
          </p:cNvPr>
          <p:cNvSpPr txBox="1"/>
          <p:nvPr/>
        </p:nvSpPr>
        <p:spPr>
          <a:xfrm>
            <a:off x="6605084" y="3981761"/>
            <a:ext cx="5126511" cy="230243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Understand the responsibilities of an MIS Analyst.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Collect and organize business data.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Clean and standardize datasets.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Perform descriptive and diagnostic analytics.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Query relational databases using SQL.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Develop interactive Excel and Power BI dashboards.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Automate repetitive reporting tasks using Google Apps Script.</a:t>
            </a: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5EFD2411-DBCC-49F7-B33E-7E98FECA1920}"/>
              </a:ext>
            </a:extLst>
          </p:cNvPr>
          <p:cNvSpPr txBox="1"/>
          <p:nvPr/>
        </p:nvSpPr>
        <p:spPr>
          <a:xfrm>
            <a:off x="6244148" y="3547112"/>
            <a:ext cx="1165736" cy="41748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r"/>
            <a:r>
              <a:rPr lang="en-IN" b="1" dirty="0"/>
              <a:t>Objectives: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B69ADA-EE40-527D-547C-45D89FF18712}"/>
              </a:ext>
            </a:extLst>
          </p:cNvPr>
          <p:cNvSpPr txBox="1"/>
          <p:nvPr/>
        </p:nvSpPr>
        <p:spPr>
          <a:xfrm>
            <a:off x="971473" y="3226874"/>
            <a:ext cx="2398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Internship Workflow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99194E9-5BBF-A455-1BB9-78F25FABDADA}"/>
              </a:ext>
            </a:extLst>
          </p:cNvPr>
          <p:cNvSpPr/>
          <p:nvPr/>
        </p:nvSpPr>
        <p:spPr>
          <a:xfrm>
            <a:off x="916117" y="3653707"/>
            <a:ext cx="4547689" cy="2876239"/>
          </a:xfrm>
          <a:prstGeom prst="roundRect">
            <a:avLst>
              <a:gd name="adj" fmla="val 8805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372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15AB9-5E2A-0F72-56F4-AB6429F87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FBFBE063-9C1E-1549-79EC-2CEB48AD5605}"/>
              </a:ext>
            </a:extLst>
          </p:cNvPr>
          <p:cNvSpPr txBox="1"/>
          <p:nvPr/>
        </p:nvSpPr>
        <p:spPr>
          <a:xfrm>
            <a:off x="715042" y="1178717"/>
            <a:ext cx="89678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Data Sources &amp; Tools Used</a:t>
            </a:r>
            <a:endParaRPr lang="en-US" altLang="zh-CN" sz="4400" b="1" dirty="0">
              <a:latin typeface="+mj-ea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6B16CC4-03D9-6197-504E-E520AC6FB5D7}"/>
              </a:ext>
            </a:extLst>
          </p:cNvPr>
          <p:cNvSpPr txBox="1"/>
          <p:nvPr/>
        </p:nvSpPr>
        <p:spPr>
          <a:xfrm>
            <a:off x="500839" y="2572521"/>
            <a:ext cx="5264150" cy="3798781"/>
          </a:xfrm>
          <a:prstGeom prst="roundRect">
            <a:avLst>
              <a:gd name="adj" fmla="val 8025"/>
            </a:avLst>
          </a:prstGeom>
          <a:solidFill>
            <a:schemeClr val="bg1">
              <a:lumMod val="95000"/>
              <a:alpha val="79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72E810BF-7B8F-DC35-FCFA-494532BFA470}"/>
              </a:ext>
            </a:extLst>
          </p:cNvPr>
          <p:cNvSpPr txBox="1"/>
          <p:nvPr/>
        </p:nvSpPr>
        <p:spPr>
          <a:xfrm>
            <a:off x="933697" y="3051810"/>
            <a:ext cx="4297892" cy="643889"/>
          </a:xfrm>
          <a:prstGeom prst="roundRect">
            <a:avLst/>
          </a:prstGeom>
          <a:gradFill>
            <a:gsLst>
              <a:gs pos="1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89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65E00BB-AC18-822B-69F7-EE5E6E0FC5CF}"/>
              </a:ext>
            </a:extLst>
          </p:cNvPr>
          <p:cNvSpPr txBox="1"/>
          <p:nvPr/>
        </p:nvSpPr>
        <p:spPr>
          <a:xfrm>
            <a:off x="1143044" y="3996029"/>
            <a:ext cx="4297892" cy="237527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Business operational data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Finance records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Sales/performance data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Business datasets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Excel spreadsheets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SQL database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Google Automation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E12FFFE6-31CA-B519-52D5-D9493F83B684}"/>
              </a:ext>
            </a:extLst>
          </p:cNvPr>
          <p:cNvSpPr txBox="1"/>
          <p:nvPr/>
        </p:nvSpPr>
        <p:spPr>
          <a:xfrm>
            <a:off x="1143044" y="3174547"/>
            <a:ext cx="4055940" cy="39841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b="1" dirty="0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Source Han Sans CN Bold Bold"/>
              </a:rPr>
              <a:t>Data Sources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FFF9410C-D3CB-4063-2BCC-AB064136B1B1}"/>
              </a:ext>
            </a:extLst>
          </p:cNvPr>
          <p:cNvSpPr txBox="1"/>
          <p:nvPr/>
        </p:nvSpPr>
        <p:spPr>
          <a:xfrm>
            <a:off x="6407194" y="2572521"/>
            <a:ext cx="5264150" cy="3798781"/>
          </a:xfrm>
          <a:prstGeom prst="roundRect">
            <a:avLst>
              <a:gd name="adj" fmla="val 8025"/>
            </a:avLst>
          </a:prstGeom>
          <a:solidFill>
            <a:schemeClr val="bg1">
              <a:lumMod val="95000"/>
              <a:alpha val="79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06636CF1-F3ED-7988-B705-1CEA93C085E1}"/>
              </a:ext>
            </a:extLst>
          </p:cNvPr>
          <p:cNvSpPr txBox="1"/>
          <p:nvPr/>
        </p:nvSpPr>
        <p:spPr>
          <a:xfrm>
            <a:off x="6840052" y="3051810"/>
            <a:ext cx="4297892" cy="643889"/>
          </a:xfrm>
          <a:prstGeom prst="roundRect">
            <a:avLst/>
          </a:prstGeom>
          <a:gradFill>
            <a:gsLst>
              <a:gs pos="1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89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F33219B5-55C0-EBCE-4276-C717EE2FF528}"/>
              </a:ext>
            </a:extLst>
          </p:cNvPr>
          <p:cNvSpPr txBox="1"/>
          <p:nvPr/>
        </p:nvSpPr>
        <p:spPr>
          <a:xfrm>
            <a:off x="7049399" y="3174547"/>
            <a:ext cx="4055940" cy="39841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b="1" dirty="0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Source Han Sans CN Bold Bold"/>
              </a:rPr>
              <a:t>Tools Used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B4696F-BC00-0A58-5349-FDF76FC3F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777349"/>
              </p:ext>
            </p:extLst>
          </p:nvPr>
        </p:nvGraphicFramePr>
        <p:xfrm>
          <a:off x="6589808" y="3922454"/>
          <a:ext cx="4975122" cy="2242373"/>
        </p:xfrm>
        <a:graphic>
          <a:graphicData uri="http://schemas.openxmlformats.org/drawingml/2006/table">
            <a:tbl>
              <a:tblPr/>
              <a:tblGrid>
                <a:gridCol w="2487561">
                  <a:extLst>
                    <a:ext uri="{9D8B030D-6E8A-4147-A177-3AD203B41FA5}">
                      <a16:colId xmlns:a16="http://schemas.microsoft.com/office/drawing/2014/main" val="1218656630"/>
                    </a:ext>
                  </a:extLst>
                </a:gridCol>
                <a:gridCol w="2487561">
                  <a:extLst>
                    <a:ext uri="{9D8B030D-6E8A-4147-A177-3AD203B41FA5}">
                      <a16:colId xmlns:a16="http://schemas.microsoft.com/office/drawing/2014/main" val="1557860416"/>
                    </a:ext>
                  </a:extLst>
                </a:gridCol>
              </a:tblGrid>
              <a:tr h="320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13558"/>
                  </a:ext>
                </a:extLst>
              </a:tr>
              <a:tr h="320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Microsoft Excel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Data Cleaning &amp; Dashboarding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255925"/>
                  </a:ext>
                </a:extLst>
              </a:tr>
              <a:tr h="320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Power Query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Data Transformation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534130"/>
                  </a:ext>
                </a:extLst>
              </a:tr>
              <a:tr h="320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Data Querying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0500685"/>
                  </a:ext>
                </a:extLst>
              </a:tr>
              <a:tr h="320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Power BI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Interactive Dashboards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24144"/>
                  </a:ext>
                </a:extLst>
              </a:tr>
              <a:tr h="320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Google Apps Script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Process Automation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315188"/>
                  </a:ext>
                </a:extLst>
              </a:tr>
              <a:tr h="320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Google Sheets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Data Storage &amp; Reporting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736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156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C9D83-0664-3BB9-6865-175E4E223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D1C22495-7AD3-47BA-E893-722890DFFA4C}"/>
              </a:ext>
            </a:extLst>
          </p:cNvPr>
          <p:cNvSpPr txBox="1"/>
          <p:nvPr/>
        </p:nvSpPr>
        <p:spPr>
          <a:xfrm>
            <a:off x="474583" y="410046"/>
            <a:ext cx="100043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Data Preparation &amp; Standardization</a:t>
            </a:r>
            <a:endParaRPr lang="en-US" altLang="zh-CN" sz="4400" b="1" dirty="0">
              <a:latin typeface="+mj-ea"/>
              <a:ea typeface="+mj-ea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EAF5A3FB-26DD-629E-FB95-6127DDFEA898}"/>
              </a:ext>
            </a:extLst>
          </p:cNvPr>
          <p:cNvSpPr txBox="1"/>
          <p:nvPr/>
        </p:nvSpPr>
        <p:spPr>
          <a:xfrm rot="16200000">
            <a:off x="384931" y="5830019"/>
            <a:ext cx="724056" cy="544749"/>
          </a:xfrm>
          <a:prstGeom prst="halfFrame">
            <a:avLst>
              <a:gd name="adj1" fmla="val 23809"/>
              <a:gd name="adj2" fmla="val 22885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D9913BC9-3934-4AB5-9FEB-9CC99CFC4852}"/>
              </a:ext>
            </a:extLst>
          </p:cNvPr>
          <p:cNvSpPr txBox="1"/>
          <p:nvPr/>
        </p:nvSpPr>
        <p:spPr>
          <a:xfrm>
            <a:off x="370057" y="1630569"/>
            <a:ext cx="5760078" cy="62717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/>
            <a:r>
              <a:rPr lang="en-IN" b="1" dirty="0"/>
              <a:t>1. Collect, Import &amp; Structure Business Data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411B5DB2-A504-67CB-C0DD-1B1F8C68A27C}"/>
              </a:ext>
            </a:extLst>
          </p:cNvPr>
          <p:cNvSpPr txBox="1"/>
          <p:nvPr/>
        </p:nvSpPr>
        <p:spPr>
          <a:xfrm rot="16200000" flipH="1">
            <a:off x="384929" y="1643962"/>
            <a:ext cx="724057" cy="544749"/>
          </a:xfrm>
          <a:prstGeom prst="halfFrame">
            <a:avLst>
              <a:gd name="adj1" fmla="val 23809"/>
              <a:gd name="adj2" fmla="val 22885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54AB738A-C1BD-5AD0-2E9A-32EAC4D598E2}"/>
              </a:ext>
            </a:extLst>
          </p:cNvPr>
          <p:cNvSpPr txBox="1"/>
          <p:nvPr/>
        </p:nvSpPr>
        <p:spPr>
          <a:xfrm rot="16200000" flipV="1">
            <a:off x="11136841" y="5864809"/>
            <a:ext cx="665535" cy="544750"/>
          </a:xfrm>
          <a:prstGeom prst="halfFrame">
            <a:avLst>
              <a:gd name="adj1" fmla="val 23809"/>
              <a:gd name="adj2" fmla="val 22885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9268C199-BBEB-34C3-0661-400B4617CDDD}"/>
              </a:ext>
            </a:extLst>
          </p:cNvPr>
          <p:cNvSpPr txBox="1"/>
          <p:nvPr/>
        </p:nvSpPr>
        <p:spPr>
          <a:xfrm rot="16200000" flipH="1" flipV="1">
            <a:off x="11038660" y="1684125"/>
            <a:ext cx="804387" cy="602260"/>
          </a:xfrm>
          <a:prstGeom prst="halfFrame">
            <a:avLst>
              <a:gd name="adj1" fmla="val 23809"/>
              <a:gd name="adj2" fmla="val 22885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8707342B-69F9-F046-FFCA-6333041862E9}"/>
              </a:ext>
            </a:extLst>
          </p:cNvPr>
          <p:cNvSpPr txBox="1"/>
          <p:nvPr/>
        </p:nvSpPr>
        <p:spPr>
          <a:xfrm>
            <a:off x="6979195" y="1630569"/>
            <a:ext cx="3598606" cy="62717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/>
            <a:r>
              <a:rPr lang="en-IN" b="1" dirty="0"/>
              <a:t>2. Data Cleaning &amp; Standardisation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94ADA60-745F-D186-0390-0C21A32EDA0B}"/>
              </a:ext>
            </a:extLst>
          </p:cNvPr>
          <p:cNvSpPr/>
          <p:nvPr/>
        </p:nvSpPr>
        <p:spPr>
          <a:xfrm>
            <a:off x="6979195" y="2198437"/>
            <a:ext cx="4040936" cy="4013297"/>
          </a:xfrm>
          <a:prstGeom prst="roundRect">
            <a:avLst>
              <a:gd name="adj" fmla="val 5218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0ACD94D-A022-4652-17CD-8C9F8D2DBC74}"/>
              </a:ext>
            </a:extLst>
          </p:cNvPr>
          <p:cNvSpPr/>
          <p:nvPr/>
        </p:nvSpPr>
        <p:spPr>
          <a:xfrm>
            <a:off x="1123859" y="2198437"/>
            <a:ext cx="4590283" cy="2144963"/>
          </a:xfrm>
          <a:prstGeom prst="roundRect">
            <a:avLst>
              <a:gd name="adj" fmla="val 7104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130E1AD-F511-9A4D-0BE7-9E12720E3FED}"/>
              </a:ext>
            </a:extLst>
          </p:cNvPr>
          <p:cNvSpPr/>
          <p:nvPr/>
        </p:nvSpPr>
        <p:spPr>
          <a:xfrm>
            <a:off x="1123860" y="4495800"/>
            <a:ext cx="4590282" cy="1799754"/>
          </a:xfrm>
          <a:prstGeom prst="roundRect">
            <a:avLst>
              <a:gd name="adj" fmla="val 5218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3888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188F4-95C8-4DEC-9C13-0EB6AFF7D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968D161D-FE92-A4DD-DD14-03DD3094D4DA}"/>
              </a:ext>
            </a:extLst>
          </p:cNvPr>
          <p:cNvSpPr txBox="1"/>
          <p:nvPr/>
        </p:nvSpPr>
        <p:spPr>
          <a:xfrm>
            <a:off x="474583" y="410046"/>
            <a:ext cx="100043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Analytics &amp; Business Insights</a:t>
            </a:r>
            <a:endParaRPr lang="en-US" altLang="zh-CN" sz="4400" b="1" dirty="0">
              <a:latin typeface="+mj-ea"/>
              <a:ea typeface="+mj-ea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1D0C971F-5267-2949-9CDA-11CBDE86F462}"/>
              </a:ext>
            </a:extLst>
          </p:cNvPr>
          <p:cNvSpPr txBox="1"/>
          <p:nvPr/>
        </p:nvSpPr>
        <p:spPr>
          <a:xfrm rot="16200000">
            <a:off x="384931" y="5830019"/>
            <a:ext cx="724056" cy="544749"/>
          </a:xfrm>
          <a:prstGeom prst="halfFrame">
            <a:avLst>
              <a:gd name="adj1" fmla="val 23809"/>
              <a:gd name="adj2" fmla="val 22885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EEE34236-0A76-8EAA-B09C-0413314C7C4D}"/>
              </a:ext>
            </a:extLst>
          </p:cNvPr>
          <p:cNvSpPr txBox="1"/>
          <p:nvPr/>
        </p:nvSpPr>
        <p:spPr>
          <a:xfrm>
            <a:off x="1019333" y="1602747"/>
            <a:ext cx="3696965" cy="62717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/>
            <a:r>
              <a:rPr lang="en-IN" b="1" dirty="0"/>
              <a:t>3. Analytics &amp; Business Insights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2298F6AF-3283-7203-00E6-56F9D834417E}"/>
              </a:ext>
            </a:extLst>
          </p:cNvPr>
          <p:cNvSpPr txBox="1"/>
          <p:nvPr/>
        </p:nvSpPr>
        <p:spPr>
          <a:xfrm rot="16200000" flipH="1">
            <a:off x="384929" y="1643962"/>
            <a:ext cx="724057" cy="544749"/>
          </a:xfrm>
          <a:prstGeom prst="halfFrame">
            <a:avLst>
              <a:gd name="adj1" fmla="val 23809"/>
              <a:gd name="adj2" fmla="val 22885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ADD63B9E-FEFD-40F2-6492-6BA9B2D65AFC}"/>
              </a:ext>
            </a:extLst>
          </p:cNvPr>
          <p:cNvSpPr txBox="1"/>
          <p:nvPr/>
        </p:nvSpPr>
        <p:spPr>
          <a:xfrm rot="16200000" flipV="1">
            <a:off x="11136841" y="5864809"/>
            <a:ext cx="665535" cy="544750"/>
          </a:xfrm>
          <a:prstGeom prst="halfFrame">
            <a:avLst>
              <a:gd name="adj1" fmla="val 23809"/>
              <a:gd name="adj2" fmla="val 22885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4A02591-E877-B66D-E3E3-BB6068F38DC4}"/>
              </a:ext>
            </a:extLst>
          </p:cNvPr>
          <p:cNvSpPr txBox="1"/>
          <p:nvPr/>
        </p:nvSpPr>
        <p:spPr>
          <a:xfrm rot="16200000" flipH="1" flipV="1">
            <a:off x="11038660" y="1684125"/>
            <a:ext cx="804387" cy="602260"/>
          </a:xfrm>
          <a:prstGeom prst="halfFrame">
            <a:avLst>
              <a:gd name="adj1" fmla="val 23809"/>
              <a:gd name="adj2" fmla="val 22885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FFB0EFCC-C493-CC0B-14FE-3BE1CAB66103}"/>
              </a:ext>
            </a:extLst>
          </p:cNvPr>
          <p:cNvSpPr txBox="1"/>
          <p:nvPr/>
        </p:nvSpPr>
        <p:spPr>
          <a:xfrm>
            <a:off x="6429848" y="1554308"/>
            <a:ext cx="4590283" cy="62717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/>
            <a:r>
              <a:rPr lang="en-IN" b="1" dirty="0"/>
              <a:t>4. Diagnostic Analytics – Root Cause Analysis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87EFBA9-3E91-C395-5F4E-BA2F46C756A0}"/>
              </a:ext>
            </a:extLst>
          </p:cNvPr>
          <p:cNvSpPr/>
          <p:nvPr/>
        </p:nvSpPr>
        <p:spPr>
          <a:xfrm>
            <a:off x="6979195" y="2198437"/>
            <a:ext cx="4040936" cy="4013297"/>
          </a:xfrm>
          <a:prstGeom prst="roundRect">
            <a:avLst>
              <a:gd name="adj" fmla="val 5218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932FA05-4301-460C-7142-7BBC1C1A593C}"/>
              </a:ext>
            </a:extLst>
          </p:cNvPr>
          <p:cNvSpPr/>
          <p:nvPr/>
        </p:nvSpPr>
        <p:spPr>
          <a:xfrm>
            <a:off x="1123859" y="2198437"/>
            <a:ext cx="4590283" cy="4013297"/>
          </a:xfrm>
          <a:prstGeom prst="roundRect">
            <a:avLst>
              <a:gd name="adj" fmla="val 7104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6888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3852F-A0E7-38F0-912E-89279F7D4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BA22037A-953B-15CD-D114-8C98267FD478}"/>
              </a:ext>
            </a:extLst>
          </p:cNvPr>
          <p:cNvSpPr txBox="1"/>
          <p:nvPr/>
        </p:nvSpPr>
        <p:spPr>
          <a:xfrm>
            <a:off x="648704" y="799860"/>
            <a:ext cx="92129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Key Highlights and Use KPI Boxes:</a:t>
            </a:r>
            <a:endParaRPr lang="en-US" altLang="zh-CN" sz="4400" b="1" dirty="0">
              <a:latin typeface="+mj-ea"/>
              <a:ea typeface="+mj-ea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72C6C1C-1151-CA90-F372-A24FE500F66D}"/>
              </a:ext>
            </a:extLst>
          </p:cNvPr>
          <p:cNvSpPr txBox="1"/>
          <p:nvPr/>
        </p:nvSpPr>
        <p:spPr>
          <a:xfrm>
            <a:off x="648704" y="1727437"/>
            <a:ext cx="11132360" cy="11284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E1DFEF60-FBB9-1859-FDBD-3FF4F7339AED}"/>
              </a:ext>
            </a:extLst>
          </p:cNvPr>
          <p:cNvSpPr txBox="1"/>
          <p:nvPr/>
        </p:nvSpPr>
        <p:spPr>
          <a:xfrm>
            <a:off x="648704" y="2071189"/>
            <a:ext cx="5711092" cy="62717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r>
              <a:rPr kumimoji="1" lang="en-US" altLang="zh-CN" b="1" dirty="0">
                <a:ln w="12700">
                  <a:noFill/>
                </a:ln>
                <a:latin typeface="+mj-ea"/>
                <a:ea typeface="+mj-ea"/>
                <a:cs typeface="Source Han Sans CN Bold Bold"/>
              </a:rPr>
              <a:t>Key Highlights: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06A9DD1C-55A3-56FA-96A7-68D64D9D9F0E}"/>
              </a:ext>
            </a:extLst>
          </p:cNvPr>
          <p:cNvSpPr txBox="1"/>
          <p:nvPr/>
        </p:nvSpPr>
        <p:spPr>
          <a:xfrm>
            <a:off x="648704" y="3950375"/>
            <a:ext cx="3183038" cy="55840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5772B5A0-64A0-7029-0904-0A94B458C127}"/>
              </a:ext>
            </a:extLst>
          </p:cNvPr>
          <p:cNvSpPr txBox="1"/>
          <p:nvPr/>
        </p:nvSpPr>
        <p:spPr>
          <a:xfrm>
            <a:off x="955926" y="3950375"/>
            <a:ext cx="2111365" cy="62717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r>
              <a:rPr kumimoji="1" lang="en-US" altLang="zh-CN" b="1" dirty="0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Source Han Sans CN Bold Bold"/>
              </a:rPr>
              <a:t>Use of KPI Boxes: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93B2D-3F2C-0D64-923F-0EE241708AF4}"/>
              </a:ext>
            </a:extLst>
          </p:cNvPr>
          <p:cNvSpPr txBox="1"/>
          <p:nvPr/>
        </p:nvSpPr>
        <p:spPr>
          <a:xfrm>
            <a:off x="998317" y="2553427"/>
            <a:ext cx="3036726" cy="1160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/>
              <a:t>📊 4 Business Departments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📁 6,000+ Records Processed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🧹 Data Cleaning &amp; Validation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7DA71E-4BA7-F399-41F3-B15C089975D5}"/>
              </a:ext>
            </a:extLst>
          </p:cNvPr>
          <p:cNvSpPr txBox="1"/>
          <p:nvPr/>
        </p:nvSpPr>
        <p:spPr>
          <a:xfrm>
            <a:off x="6709409" y="2593226"/>
            <a:ext cx="3036726" cy="1160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/>
              <a:t>📅 Date Format Standardization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🏷 Category Standardization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📈 Analysis-Ready Dataset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E376476-8EFC-6A15-82F4-1D2224F113C7}"/>
              </a:ext>
            </a:extLst>
          </p:cNvPr>
          <p:cNvSpPr/>
          <p:nvPr/>
        </p:nvSpPr>
        <p:spPr>
          <a:xfrm>
            <a:off x="4317357" y="3950375"/>
            <a:ext cx="6354501" cy="2681933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558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33FB6-8CDB-A636-73FE-99F72C035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FB04D401-5EAE-DA31-3772-998FD4662D34}"/>
              </a:ext>
            </a:extLst>
          </p:cNvPr>
          <p:cNvSpPr txBox="1"/>
          <p:nvPr/>
        </p:nvSpPr>
        <p:spPr>
          <a:xfrm>
            <a:off x="648704" y="799860"/>
            <a:ext cx="108945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Key Insights from Dashboards</a:t>
            </a:r>
            <a:endParaRPr lang="en-US" altLang="zh-CN" sz="4400" b="1" dirty="0">
              <a:latin typeface="+mj-ea"/>
              <a:ea typeface="+mj-ea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B9AE7A8F-EEE1-6E0D-3898-398332C2C907}"/>
              </a:ext>
            </a:extLst>
          </p:cNvPr>
          <p:cNvSpPr txBox="1"/>
          <p:nvPr/>
        </p:nvSpPr>
        <p:spPr>
          <a:xfrm>
            <a:off x="648704" y="1727437"/>
            <a:ext cx="11132360" cy="11284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FEACD09E-8697-5287-83C9-D6AE712F8CF7}"/>
              </a:ext>
            </a:extLst>
          </p:cNvPr>
          <p:cNvSpPr txBox="1"/>
          <p:nvPr/>
        </p:nvSpPr>
        <p:spPr>
          <a:xfrm>
            <a:off x="6480908" y="2071189"/>
            <a:ext cx="5711092" cy="62717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r>
              <a:rPr lang="en-IN" b="1" dirty="0"/>
              <a:t>📈 Key Business Insights</a:t>
            </a:r>
            <a:endParaRPr kumimoji="1" lang="en-US" altLang="zh-CN" b="1" dirty="0">
              <a:ln w="12700">
                <a:noFill/>
              </a:ln>
              <a:latin typeface="+mj-ea"/>
              <a:ea typeface="+mj-ea"/>
              <a:cs typeface="Source Han Sans CN Bold Bold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0600C6-F299-BC48-4FFF-EDA70962589A}"/>
              </a:ext>
            </a:extLst>
          </p:cNvPr>
          <p:cNvSpPr/>
          <p:nvPr/>
        </p:nvSpPr>
        <p:spPr>
          <a:xfrm>
            <a:off x="925974" y="2698366"/>
            <a:ext cx="4317357" cy="2915356"/>
          </a:xfrm>
          <a:prstGeom prst="roundRect">
            <a:avLst>
              <a:gd name="adj" fmla="val 7328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14E3ED9-D4C3-4CFD-669D-E9B50A3105AC}"/>
              </a:ext>
            </a:extLst>
          </p:cNvPr>
          <p:cNvSpPr/>
          <p:nvPr/>
        </p:nvSpPr>
        <p:spPr>
          <a:xfrm>
            <a:off x="6480908" y="2698366"/>
            <a:ext cx="4897006" cy="2915356"/>
          </a:xfrm>
          <a:prstGeom prst="roundRect">
            <a:avLst>
              <a:gd name="adj" fmla="val 7328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8755EB05-AB51-0584-A5FC-339E808DDE26}"/>
              </a:ext>
            </a:extLst>
          </p:cNvPr>
          <p:cNvSpPr txBox="1"/>
          <p:nvPr/>
        </p:nvSpPr>
        <p:spPr>
          <a:xfrm>
            <a:off x="925974" y="2071188"/>
            <a:ext cx="5711092" cy="62717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r>
              <a:rPr lang="en-IN" b="1" dirty="0"/>
              <a:t>📊 Dashboard Features</a:t>
            </a:r>
            <a:endParaRPr kumimoji="1" lang="en-US" altLang="zh-CN" b="1" dirty="0">
              <a:ln w="12700">
                <a:noFill/>
              </a:ln>
              <a:latin typeface="+mj-ea"/>
              <a:ea typeface="+mj-ea"/>
              <a:cs typeface="Source Han Sans CN Bold Bold"/>
            </a:endParaRPr>
          </a:p>
        </p:txBody>
      </p:sp>
    </p:spTree>
    <p:extLst>
      <p:ext uri="{BB962C8B-B14F-4D97-AF65-F5344CB8AC3E}">
        <p14:creationId xmlns:p14="http://schemas.microsoft.com/office/powerpoint/2010/main" val="3895837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4A845-1A70-3096-AF47-E357FE681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19ED7531-6E2F-FCB9-4994-82C9AE35AD69}"/>
              </a:ext>
            </a:extLst>
          </p:cNvPr>
          <p:cNvSpPr txBox="1"/>
          <p:nvPr/>
        </p:nvSpPr>
        <p:spPr>
          <a:xfrm>
            <a:off x="648703" y="799860"/>
            <a:ext cx="349503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dirty="0">
                <a:latin typeface="+mj-ea"/>
                <a:ea typeface="+mj-ea"/>
              </a:rPr>
              <a:t>Key Analysis:</a:t>
            </a:r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4B18239D-D93D-9E78-19A3-D76EE2D28D35}"/>
              </a:ext>
            </a:extLst>
          </p:cNvPr>
          <p:cNvSpPr txBox="1"/>
          <p:nvPr/>
        </p:nvSpPr>
        <p:spPr>
          <a:xfrm>
            <a:off x="11943046" y="4812347"/>
            <a:ext cx="293890" cy="1449535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B7274EAD-53E8-862F-8DBF-FECEEB022038}"/>
              </a:ext>
            </a:extLst>
          </p:cNvPr>
          <p:cNvSpPr txBox="1"/>
          <p:nvPr/>
        </p:nvSpPr>
        <p:spPr>
          <a:xfrm>
            <a:off x="549533" y="1569298"/>
            <a:ext cx="2603782" cy="62717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r>
              <a:rPr lang="en-IN" b="1" dirty="0"/>
              <a:t>🛒 Product Performance</a:t>
            </a:r>
            <a:endParaRPr kumimoji="1" lang="en-US" altLang="zh-CN" b="1" dirty="0">
              <a:ln w="12700">
                <a:noFill/>
              </a:ln>
              <a:latin typeface="+mj-ea"/>
              <a:ea typeface="+mj-ea"/>
              <a:cs typeface="Source Han Sans CN Bold Bold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AB18F2FD-4F96-7A87-64E8-FA587E3779DA}"/>
              </a:ext>
            </a:extLst>
          </p:cNvPr>
          <p:cNvSpPr txBox="1"/>
          <p:nvPr/>
        </p:nvSpPr>
        <p:spPr>
          <a:xfrm>
            <a:off x="4517401" y="1552862"/>
            <a:ext cx="3157197" cy="62717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/>
            <a:r>
              <a:rPr lang="en-IN" b="1" dirty="0"/>
              <a:t>🌍 Regional Sales Performance</a:t>
            </a:r>
            <a:endParaRPr kumimoji="1" lang="en-US" altLang="zh-CN" b="1" dirty="0">
              <a:ln w="12700">
                <a:noFill/>
              </a:ln>
              <a:latin typeface="+mj-ea"/>
              <a:ea typeface="+mj-ea"/>
              <a:cs typeface="Source Han Sans CN Bold Bold"/>
            </a:endParaRP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20F1F905-E365-67F9-0B90-592C5D584392}"/>
              </a:ext>
            </a:extLst>
          </p:cNvPr>
          <p:cNvSpPr txBox="1"/>
          <p:nvPr/>
        </p:nvSpPr>
        <p:spPr>
          <a:xfrm>
            <a:off x="428785" y="4802573"/>
            <a:ext cx="3599205" cy="9722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1400" b="1" dirty="0"/>
              <a:t>Insight:</a:t>
            </a:r>
            <a:r>
              <a:rPr lang="en-IN" sz="1400" dirty="0"/>
              <a:t> Android products accounted for approximately </a:t>
            </a:r>
            <a:r>
              <a:rPr lang="en-IN" sz="1400" b="1" dirty="0"/>
              <a:t>61%</a:t>
            </a:r>
            <a:r>
              <a:rPr lang="en-IN" sz="1400" dirty="0"/>
              <a:t> of total units sold (909 of 1,500), making them the highest-selling category.</a:t>
            </a:r>
            <a:endParaRPr kumimoji="1" lang="en-US" altLang="zh-CN" sz="1400" dirty="0">
              <a:ln w="12700">
                <a:noFill/>
              </a:ln>
              <a:latin typeface="+mn-ea"/>
              <a:cs typeface="Source Han Sans CN Bold Bold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F5EA9B8-C282-73FE-698E-3F4BD93EC99E}"/>
              </a:ext>
            </a:extLst>
          </p:cNvPr>
          <p:cNvSpPr/>
          <p:nvPr/>
        </p:nvSpPr>
        <p:spPr>
          <a:xfrm>
            <a:off x="549533" y="2387996"/>
            <a:ext cx="3842795" cy="2082008"/>
          </a:xfrm>
          <a:prstGeom prst="roundRect">
            <a:avLst>
              <a:gd name="adj" fmla="val 13331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F0444A0-65ED-CA11-3D9C-46A490327FE4}"/>
              </a:ext>
            </a:extLst>
          </p:cNvPr>
          <p:cNvSpPr/>
          <p:nvPr/>
        </p:nvSpPr>
        <p:spPr>
          <a:xfrm>
            <a:off x="4613307" y="2387996"/>
            <a:ext cx="3442674" cy="2082008"/>
          </a:xfrm>
          <a:prstGeom prst="roundRect">
            <a:avLst>
              <a:gd name="adj" fmla="val 13331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F76CF3D1-D1E1-664B-1006-452045335075}"/>
              </a:ext>
            </a:extLst>
          </p:cNvPr>
          <p:cNvSpPr txBox="1"/>
          <p:nvPr/>
        </p:nvSpPr>
        <p:spPr>
          <a:xfrm>
            <a:off x="8361839" y="1552862"/>
            <a:ext cx="3157197" cy="518145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/>
            <a:r>
              <a:rPr lang="en-IN" b="1" dirty="0"/>
              <a:t>💳 Payment Status Analysis</a:t>
            </a:r>
            <a:endParaRPr kumimoji="1" lang="en-US" altLang="zh-CN" b="1" dirty="0">
              <a:ln w="12700">
                <a:noFill/>
              </a:ln>
              <a:latin typeface="+mj-ea"/>
              <a:ea typeface="+mj-ea"/>
              <a:cs typeface="Source Han Sans CN Bold Bold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E1D7E0A-5ABD-6C31-E436-A031BCF83E87}"/>
              </a:ext>
            </a:extLst>
          </p:cNvPr>
          <p:cNvSpPr/>
          <p:nvPr/>
        </p:nvSpPr>
        <p:spPr>
          <a:xfrm>
            <a:off x="8647317" y="2196474"/>
            <a:ext cx="3442674" cy="2273529"/>
          </a:xfrm>
          <a:prstGeom prst="roundRect">
            <a:avLst>
              <a:gd name="adj" fmla="val 13331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101D67B4-EE28-676C-7C69-2CC075496930}"/>
              </a:ext>
            </a:extLst>
          </p:cNvPr>
          <p:cNvSpPr txBox="1"/>
          <p:nvPr/>
        </p:nvSpPr>
        <p:spPr>
          <a:xfrm>
            <a:off x="8268805" y="4786994"/>
            <a:ext cx="3599205" cy="9722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1400" b="1" dirty="0"/>
              <a:t>Insight:</a:t>
            </a:r>
            <a:r>
              <a:rPr lang="en-IN" sz="1400" dirty="0"/>
              <a:t> Pending payments represented the largest share, indicating opportunities to improve collection and follow-up processes.</a:t>
            </a:r>
            <a:endParaRPr kumimoji="1" lang="en-US" altLang="zh-CN" sz="1400" dirty="0">
              <a:ln w="12700">
                <a:noFill/>
              </a:ln>
              <a:latin typeface="+mn-ea"/>
              <a:cs typeface="Source Han Sans CN Bold Bold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591ACD3E-3717-2DBA-C005-FDD1C4F0AE7F}"/>
              </a:ext>
            </a:extLst>
          </p:cNvPr>
          <p:cNvSpPr txBox="1"/>
          <p:nvPr/>
        </p:nvSpPr>
        <p:spPr>
          <a:xfrm>
            <a:off x="4348795" y="4802573"/>
            <a:ext cx="3599205" cy="9722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1400" b="1" dirty="0"/>
              <a:t>Insight:</a:t>
            </a:r>
            <a:r>
              <a:rPr lang="en-IN" sz="1400" dirty="0"/>
              <a:t> The </a:t>
            </a:r>
            <a:r>
              <a:rPr lang="en-IN" sz="1400" b="1" dirty="0"/>
              <a:t>East</a:t>
            </a:r>
            <a:r>
              <a:rPr lang="en-IN" sz="1400" dirty="0"/>
              <a:t> region generated the highest sales revenue, while </a:t>
            </a:r>
            <a:r>
              <a:rPr lang="en-IN" sz="1400" b="1" dirty="0"/>
              <a:t>South</a:t>
            </a:r>
            <a:r>
              <a:rPr lang="en-IN" sz="1400" dirty="0"/>
              <a:t> showed the lowest overall performance.</a:t>
            </a:r>
            <a:endParaRPr kumimoji="1" lang="en-US" altLang="zh-CN" sz="1400" dirty="0">
              <a:ln w="12700">
                <a:noFill/>
              </a:ln>
              <a:latin typeface="+mn-ea"/>
              <a:cs typeface="Source Han Sans CN Bold Bold"/>
            </a:endParaRPr>
          </a:p>
        </p:txBody>
      </p:sp>
    </p:spTree>
    <p:extLst>
      <p:ext uri="{BB962C8B-B14F-4D97-AF65-F5344CB8AC3E}">
        <p14:creationId xmlns:p14="http://schemas.microsoft.com/office/powerpoint/2010/main" val="612249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959A3-6C7F-FFE4-1CE0-0571CD049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5223E8FA-8084-35C8-78AA-3A3AF25078C8}"/>
              </a:ext>
            </a:extLst>
          </p:cNvPr>
          <p:cNvSpPr txBox="1"/>
          <p:nvPr/>
        </p:nvSpPr>
        <p:spPr>
          <a:xfrm>
            <a:off x="648703" y="799860"/>
            <a:ext cx="349503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dirty="0">
                <a:latin typeface="+mj-ea"/>
                <a:ea typeface="+mj-ea"/>
              </a:rPr>
              <a:t>Key Insights:</a:t>
            </a:r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293BBAD1-E51A-5C14-521C-16952966F646}"/>
              </a:ext>
            </a:extLst>
          </p:cNvPr>
          <p:cNvSpPr txBox="1"/>
          <p:nvPr/>
        </p:nvSpPr>
        <p:spPr>
          <a:xfrm>
            <a:off x="11943046" y="4812347"/>
            <a:ext cx="293890" cy="1449535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4377F1BF-6DC1-96EF-904E-4FB96B52EC1E}"/>
              </a:ext>
            </a:extLst>
          </p:cNvPr>
          <p:cNvSpPr txBox="1"/>
          <p:nvPr/>
        </p:nvSpPr>
        <p:spPr>
          <a:xfrm>
            <a:off x="549533" y="1569298"/>
            <a:ext cx="2603782" cy="62717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r>
              <a:rPr lang="en-IN" b="1" dirty="0"/>
              <a:t>📌 CRM Lead Status</a:t>
            </a:r>
            <a:endParaRPr kumimoji="1" lang="en-US" altLang="zh-CN" b="1" dirty="0">
              <a:ln w="12700">
                <a:noFill/>
              </a:ln>
              <a:latin typeface="+mj-ea"/>
              <a:ea typeface="+mj-ea"/>
              <a:cs typeface="Source Han Sans CN Bold Bold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D1A34C3F-104E-26CB-9808-7BBE924C0516}"/>
              </a:ext>
            </a:extLst>
          </p:cNvPr>
          <p:cNvSpPr txBox="1"/>
          <p:nvPr/>
        </p:nvSpPr>
        <p:spPr>
          <a:xfrm>
            <a:off x="7460088" y="1569297"/>
            <a:ext cx="3157197" cy="62717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/>
            <a:r>
              <a:rPr lang="en-IN" b="1" dirty="0"/>
              <a:t>📅 Monthly Business Activity</a:t>
            </a:r>
            <a:endParaRPr kumimoji="1" lang="en-US" altLang="zh-CN" b="1" dirty="0">
              <a:ln w="12700">
                <a:noFill/>
              </a:ln>
              <a:latin typeface="+mj-ea"/>
              <a:ea typeface="+mj-ea"/>
              <a:cs typeface="Source Han Sans CN Bold Bold"/>
            </a:endParaRP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255123DD-A667-FF13-950E-5FCEC1152D5D}"/>
              </a:ext>
            </a:extLst>
          </p:cNvPr>
          <p:cNvSpPr txBox="1"/>
          <p:nvPr/>
        </p:nvSpPr>
        <p:spPr>
          <a:xfrm>
            <a:off x="428785" y="4802572"/>
            <a:ext cx="3599205" cy="145930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1400" b="1" dirty="0"/>
              <a:t>Insight:</a:t>
            </a:r>
            <a:r>
              <a:rPr lang="en-IN" sz="1400" dirty="0"/>
              <a:t> Converted leads formed the largest group, while a significant number of open and in-progress leads suggest additional conversion opportunities.</a:t>
            </a:r>
            <a:endParaRPr kumimoji="1" lang="en-US" altLang="zh-CN" sz="1400" dirty="0">
              <a:ln w="12700">
                <a:noFill/>
              </a:ln>
              <a:latin typeface="+mn-ea"/>
              <a:cs typeface="Source Han Sans CN Bold Bold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08951A-CA56-B5EF-9577-0A8F9E7244FF}"/>
              </a:ext>
            </a:extLst>
          </p:cNvPr>
          <p:cNvSpPr/>
          <p:nvPr/>
        </p:nvSpPr>
        <p:spPr>
          <a:xfrm>
            <a:off x="549533" y="2387996"/>
            <a:ext cx="3842795" cy="2082008"/>
          </a:xfrm>
          <a:prstGeom prst="roundRect">
            <a:avLst>
              <a:gd name="adj" fmla="val 13331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3008AA-8F90-91F1-3046-851F9FA55BC8}"/>
              </a:ext>
            </a:extLst>
          </p:cNvPr>
          <p:cNvSpPr/>
          <p:nvPr/>
        </p:nvSpPr>
        <p:spPr>
          <a:xfrm>
            <a:off x="7317349" y="2387996"/>
            <a:ext cx="3442674" cy="2082008"/>
          </a:xfrm>
          <a:prstGeom prst="roundRect">
            <a:avLst>
              <a:gd name="adj" fmla="val 13331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6CEFE133-545E-C257-C977-349B7D4DE05D}"/>
              </a:ext>
            </a:extLst>
          </p:cNvPr>
          <p:cNvSpPr txBox="1"/>
          <p:nvPr/>
        </p:nvSpPr>
        <p:spPr>
          <a:xfrm>
            <a:off x="7239083" y="4812347"/>
            <a:ext cx="3599205" cy="145930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1400" b="1" dirty="0"/>
              <a:t>Insight:</a:t>
            </a:r>
            <a:r>
              <a:rPr lang="en-IN" sz="1400" dirty="0"/>
              <a:t> Business activity increased steadily from January to March and remained consistently high in April, indicating stable operational performance.</a:t>
            </a:r>
            <a:endParaRPr kumimoji="1" lang="en-US" altLang="zh-CN" sz="1400" dirty="0">
              <a:ln w="12700">
                <a:noFill/>
              </a:ln>
              <a:latin typeface="+mn-ea"/>
              <a:cs typeface="Source Han Sans CN Bold Bold"/>
            </a:endParaRPr>
          </a:p>
        </p:txBody>
      </p:sp>
    </p:spTree>
    <p:extLst>
      <p:ext uri="{BB962C8B-B14F-4D97-AF65-F5344CB8AC3E}">
        <p14:creationId xmlns:p14="http://schemas.microsoft.com/office/powerpoint/2010/main" val="827561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8D0B8-14BB-E507-B6AC-3ECA438F6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C1348072-D5A5-FE81-3119-6E693979EE85}"/>
              </a:ext>
            </a:extLst>
          </p:cNvPr>
          <p:cNvSpPr txBox="1"/>
          <p:nvPr/>
        </p:nvSpPr>
        <p:spPr>
          <a:xfrm>
            <a:off x="648704" y="893009"/>
            <a:ext cx="108945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dirty="0">
                <a:latin typeface="+mj-ea"/>
                <a:ea typeface="+mj-ea"/>
              </a:rPr>
              <a:t>Excel dashboard:</a:t>
            </a: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C2D21278-9327-9EC0-52E1-CACBF0DE112C}"/>
              </a:ext>
            </a:extLst>
          </p:cNvPr>
          <p:cNvSpPr/>
          <p:nvPr/>
        </p:nvSpPr>
        <p:spPr>
          <a:xfrm>
            <a:off x="182542" y="2751498"/>
            <a:ext cx="5570558" cy="2383878"/>
          </a:xfrm>
          <a:prstGeom prst="roundRect">
            <a:avLst>
              <a:gd name="adj" fmla="val 6317"/>
            </a:avLst>
          </a:prstGeom>
          <a:solidFill>
            <a:schemeClr val="bg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01CB604-2561-CF57-3D3A-1C2F4473ED27}"/>
              </a:ext>
            </a:extLst>
          </p:cNvPr>
          <p:cNvSpPr/>
          <p:nvPr/>
        </p:nvSpPr>
        <p:spPr>
          <a:xfrm>
            <a:off x="879676" y="1662450"/>
            <a:ext cx="10475089" cy="4946694"/>
          </a:xfrm>
          <a:prstGeom prst="roundRect">
            <a:avLst>
              <a:gd name="adj" fmla="val 9534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178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F8874-37A1-9706-C5CF-3C2E8E462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C669476B-C66D-FAA1-2BF1-0A5EEC30BA73}"/>
              </a:ext>
            </a:extLst>
          </p:cNvPr>
          <p:cNvSpPr txBox="1"/>
          <p:nvPr/>
        </p:nvSpPr>
        <p:spPr>
          <a:xfrm>
            <a:off x="648704" y="893009"/>
            <a:ext cx="108945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dirty="0" err="1">
                <a:latin typeface="+mj-ea"/>
                <a:ea typeface="+mj-ea"/>
              </a:rPr>
              <a:t>PowerBI</a:t>
            </a:r>
            <a:r>
              <a:rPr lang="en-US" altLang="zh-CN" sz="4400" b="1" dirty="0">
                <a:latin typeface="+mj-ea"/>
                <a:ea typeface="+mj-ea"/>
              </a:rPr>
              <a:t> dashboard:</a:t>
            </a: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5DB52D03-1302-D16C-F486-3DF486C4E583}"/>
              </a:ext>
            </a:extLst>
          </p:cNvPr>
          <p:cNvSpPr/>
          <p:nvPr/>
        </p:nvSpPr>
        <p:spPr>
          <a:xfrm>
            <a:off x="182542" y="2751498"/>
            <a:ext cx="5570558" cy="2383878"/>
          </a:xfrm>
          <a:prstGeom prst="roundRect">
            <a:avLst>
              <a:gd name="adj" fmla="val 6317"/>
            </a:avLst>
          </a:prstGeom>
          <a:solidFill>
            <a:schemeClr val="bg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779B874-B9EA-0D20-36B3-23167A1D7498}"/>
              </a:ext>
            </a:extLst>
          </p:cNvPr>
          <p:cNvSpPr/>
          <p:nvPr/>
        </p:nvSpPr>
        <p:spPr>
          <a:xfrm>
            <a:off x="879676" y="1662450"/>
            <a:ext cx="10475089" cy="4946694"/>
          </a:xfrm>
          <a:prstGeom prst="roundRect">
            <a:avLst>
              <a:gd name="adj" fmla="val 7428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143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BBD31-E219-25F2-4463-59FD9A47D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D4392290-BD2F-EF4F-7E9E-35FB935F5F83}"/>
              </a:ext>
            </a:extLst>
          </p:cNvPr>
          <p:cNvSpPr txBox="1"/>
          <p:nvPr/>
        </p:nvSpPr>
        <p:spPr>
          <a:xfrm>
            <a:off x="648704" y="799860"/>
            <a:ext cx="108945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SQL Use Cases &amp; Findings</a:t>
            </a:r>
            <a:endParaRPr lang="en-US" altLang="zh-CN" sz="4400" b="1" dirty="0">
              <a:latin typeface="+mj-ea"/>
              <a:ea typeface="+mj-ea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38B4B877-60EC-7029-AFFF-477AEEEB4D57}"/>
              </a:ext>
            </a:extLst>
          </p:cNvPr>
          <p:cNvSpPr txBox="1"/>
          <p:nvPr/>
        </p:nvSpPr>
        <p:spPr>
          <a:xfrm>
            <a:off x="648704" y="1727437"/>
            <a:ext cx="11132360" cy="11284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18D1C0F1-0695-653E-CB54-6AC1EC313089}"/>
              </a:ext>
            </a:extLst>
          </p:cNvPr>
          <p:cNvSpPr txBox="1"/>
          <p:nvPr/>
        </p:nvSpPr>
        <p:spPr>
          <a:xfrm>
            <a:off x="6480908" y="2071189"/>
            <a:ext cx="5711092" cy="62717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r>
              <a:rPr lang="en-IN" b="1" dirty="0"/>
              <a:t>Overdue Payments by Region (JOIN Sales &amp; Finance)</a:t>
            </a:r>
            <a:endParaRPr kumimoji="1" lang="en-US" altLang="zh-CN" b="1" dirty="0">
              <a:ln w="12700">
                <a:noFill/>
              </a:ln>
              <a:latin typeface="+mj-ea"/>
              <a:ea typeface="+mj-ea"/>
              <a:cs typeface="Source Han Sans CN Bold Bold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8073BF-84AE-DA83-84A8-2390780DB2EF}"/>
              </a:ext>
            </a:extLst>
          </p:cNvPr>
          <p:cNvSpPr/>
          <p:nvPr/>
        </p:nvSpPr>
        <p:spPr>
          <a:xfrm>
            <a:off x="925974" y="2698366"/>
            <a:ext cx="4317357" cy="2915356"/>
          </a:xfrm>
          <a:prstGeom prst="roundRect">
            <a:avLst>
              <a:gd name="adj" fmla="val 7328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0B4C746-CA20-0305-318E-849EEC3CEC2A}"/>
              </a:ext>
            </a:extLst>
          </p:cNvPr>
          <p:cNvSpPr/>
          <p:nvPr/>
        </p:nvSpPr>
        <p:spPr>
          <a:xfrm>
            <a:off x="6480908" y="2698366"/>
            <a:ext cx="4897006" cy="2915356"/>
          </a:xfrm>
          <a:prstGeom prst="roundRect">
            <a:avLst>
              <a:gd name="adj" fmla="val 7328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0C82AFE0-70A6-A7A3-50EF-A8F83C2C9B75}"/>
              </a:ext>
            </a:extLst>
          </p:cNvPr>
          <p:cNvSpPr txBox="1"/>
          <p:nvPr/>
        </p:nvSpPr>
        <p:spPr>
          <a:xfrm>
            <a:off x="925974" y="2071188"/>
            <a:ext cx="5711092" cy="62717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r>
              <a:rPr lang="en-IN" b="1" dirty="0"/>
              <a:t>Top 5 Customers by Total Revenue</a:t>
            </a:r>
            <a:endParaRPr kumimoji="1" lang="en-US" altLang="zh-CN" b="1" dirty="0">
              <a:ln w="12700">
                <a:noFill/>
              </a:ln>
              <a:latin typeface="+mj-ea"/>
              <a:ea typeface="+mj-ea"/>
              <a:cs typeface="Source Han Sans CN Bold Bold"/>
            </a:endParaRPr>
          </a:p>
        </p:txBody>
      </p:sp>
    </p:spTree>
    <p:extLst>
      <p:ext uri="{BB962C8B-B14F-4D97-AF65-F5344CB8AC3E}">
        <p14:creationId xmlns:p14="http://schemas.microsoft.com/office/powerpoint/2010/main" val="4073569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51661-A91D-36C7-DCB1-1B3E75713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5DA3D18B-A48D-6A81-E52A-F49FDACAC304}"/>
              </a:ext>
            </a:extLst>
          </p:cNvPr>
          <p:cNvSpPr txBox="1"/>
          <p:nvPr/>
        </p:nvSpPr>
        <p:spPr>
          <a:xfrm>
            <a:off x="648704" y="799860"/>
            <a:ext cx="108945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SQL Use Cases &amp; Findings</a:t>
            </a:r>
            <a:endParaRPr lang="en-US" altLang="zh-CN" sz="4400" b="1" dirty="0">
              <a:latin typeface="+mj-ea"/>
              <a:ea typeface="+mj-ea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1A055175-E9D6-8627-8AC2-E2E705E6FF94}"/>
              </a:ext>
            </a:extLst>
          </p:cNvPr>
          <p:cNvSpPr txBox="1"/>
          <p:nvPr/>
        </p:nvSpPr>
        <p:spPr>
          <a:xfrm>
            <a:off x="648704" y="1727437"/>
            <a:ext cx="11132360" cy="11284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7ECA169D-9B44-EC1F-3786-74FCC68F0435}"/>
              </a:ext>
            </a:extLst>
          </p:cNvPr>
          <p:cNvSpPr txBox="1"/>
          <p:nvPr/>
        </p:nvSpPr>
        <p:spPr>
          <a:xfrm>
            <a:off x="6480908" y="2071189"/>
            <a:ext cx="5711092" cy="62717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r>
              <a:rPr lang="en-IN" b="1" dirty="0"/>
              <a:t>Department Performance Analysis</a:t>
            </a:r>
            <a:endParaRPr kumimoji="1" lang="en-US" altLang="zh-CN" b="1" dirty="0">
              <a:ln w="12700">
                <a:noFill/>
              </a:ln>
              <a:latin typeface="+mj-ea"/>
              <a:ea typeface="+mj-ea"/>
              <a:cs typeface="Source Han Sans CN Bold Bold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4FDBA0-6134-5726-B160-D808BECCE2F9}"/>
              </a:ext>
            </a:extLst>
          </p:cNvPr>
          <p:cNvSpPr/>
          <p:nvPr/>
        </p:nvSpPr>
        <p:spPr>
          <a:xfrm>
            <a:off x="925974" y="2698366"/>
            <a:ext cx="4317357" cy="2915356"/>
          </a:xfrm>
          <a:prstGeom prst="roundRect">
            <a:avLst>
              <a:gd name="adj" fmla="val 7328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E4818D2-00E3-6A5A-6A04-8FB8973FB4F1}"/>
              </a:ext>
            </a:extLst>
          </p:cNvPr>
          <p:cNvSpPr/>
          <p:nvPr/>
        </p:nvSpPr>
        <p:spPr>
          <a:xfrm>
            <a:off x="6480908" y="2698366"/>
            <a:ext cx="4897006" cy="2915356"/>
          </a:xfrm>
          <a:prstGeom prst="roundRect">
            <a:avLst>
              <a:gd name="adj" fmla="val 7328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87B5A9BC-7F9D-3C7D-5268-3DE0207C7A71}"/>
              </a:ext>
            </a:extLst>
          </p:cNvPr>
          <p:cNvSpPr txBox="1"/>
          <p:nvPr/>
        </p:nvSpPr>
        <p:spPr>
          <a:xfrm>
            <a:off x="925974" y="2071188"/>
            <a:ext cx="5711092" cy="62717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r>
              <a:rPr lang="en-IN" b="1" dirty="0"/>
              <a:t>Lead-to-Sale Conversion Funnel (JOIN CRM &amp; Sales)</a:t>
            </a:r>
            <a:endParaRPr kumimoji="1" lang="en-US" altLang="zh-CN" b="1" dirty="0">
              <a:ln w="12700">
                <a:noFill/>
              </a:ln>
              <a:latin typeface="+mj-ea"/>
              <a:ea typeface="+mj-ea"/>
              <a:cs typeface="Source Han Sans CN Bold Bold"/>
            </a:endParaRPr>
          </a:p>
        </p:txBody>
      </p:sp>
    </p:spTree>
    <p:extLst>
      <p:ext uri="{BB962C8B-B14F-4D97-AF65-F5344CB8AC3E}">
        <p14:creationId xmlns:p14="http://schemas.microsoft.com/office/powerpoint/2010/main" val="925567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6A621-6E19-F148-71B4-6A1E818C0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543D7162-10BE-1F82-F454-C361883520C7}"/>
              </a:ext>
            </a:extLst>
          </p:cNvPr>
          <p:cNvSpPr txBox="1"/>
          <p:nvPr/>
        </p:nvSpPr>
        <p:spPr>
          <a:xfrm>
            <a:off x="648704" y="799860"/>
            <a:ext cx="108945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SQL Use Cases &amp; Findings</a:t>
            </a:r>
            <a:endParaRPr lang="en-US" altLang="zh-CN" sz="4400" b="1" dirty="0">
              <a:latin typeface="+mj-ea"/>
              <a:ea typeface="+mj-ea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3880E57-C2EB-9E4C-BD55-3BB973F14B31}"/>
              </a:ext>
            </a:extLst>
          </p:cNvPr>
          <p:cNvSpPr txBox="1"/>
          <p:nvPr/>
        </p:nvSpPr>
        <p:spPr>
          <a:xfrm>
            <a:off x="648704" y="1727437"/>
            <a:ext cx="11132360" cy="11284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3B0496E-599F-E652-5345-44B0B886CC6F}"/>
              </a:ext>
            </a:extLst>
          </p:cNvPr>
          <p:cNvSpPr/>
          <p:nvPr/>
        </p:nvSpPr>
        <p:spPr>
          <a:xfrm>
            <a:off x="925974" y="2698366"/>
            <a:ext cx="4317357" cy="2915356"/>
          </a:xfrm>
          <a:prstGeom prst="roundRect">
            <a:avLst>
              <a:gd name="adj" fmla="val 7328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9A532A47-9492-F18F-E0DA-8BBBEC734391}"/>
              </a:ext>
            </a:extLst>
          </p:cNvPr>
          <p:cNvSpPr txBox="1"/>
          <p:nvPr/>
        </p:nvSpPr>
        <p:spPr>
          <a:xfrm>
            <a:off x="925974" y="2071188"/>
            <a:ext cx="5711092" cy="62717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r>
              <a:rPr lang="en-IN" b="1" dirty="0"/>
              <a:t>Warehouse Performance Analysis</a:t>
            </a:r>
            <a:endParaRPr kumimoji="1" lang="en-US" altLang="zh-CN" b="1" dirty="0">
              <a:ln w="12700">
                <a:noFill/>
              </a:ln>
              <a:latin typeface="+mj-ea"/>
              <a:ea typeface="+mj-ea"/>
              <a:cs typeface="Source Han Sans CN Bold Bold"/>
            </a:endParaRPr>
          </a:p>
        </p:txBody>
      </p:sp>
    </p:spTree>
    <p:extLst>
      <p:ext uri="{BB962C8B-B14F-4D97-AF65-F5344CB8AC3E}">
        <p14:creationId xmlns:p14="http://schemas.microsoft.com/office/powerpoint/2010/main" val="194918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ABFAF-ED83-B9D2-03BB-41847E6C6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A1D3F71-3AF4-A7DB-7795-4979154F2FC4}"/>
              </a:ext>
            </a:extLst>
          </p:cNvPr>
          <p:cNvSpPr txBox="1"/>
          <p:nvPr/>
        </p:nvSpPr>
        <p:spPr>
          <a:xfrm>
            <a:off x="648704" y="685694"/>
            <a:ext cx="108945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dirty="0">
                <a:latin typeface="+mj-ea"/>
                <a:ea typeface="+mj-ea"/>
              </a:rPr>
              <a:t>Automation Using Google </a:t>
            </a:r>
            <a:r>
              <a:rPr lang="en-US" altLang="zh-CN" sz="4400" b="1" dirty="0" err="1">
                <a:latin typeface="+mj-ea"/>
                <a:ea typeface="+mj-ea"/>
              </a:rPr>
              <a:t>Appscript</a:t>
            </a:r>
            <a:endParaRPr lang="en-US" altLang="zh-CN" sz="4400" b="1" dirty="0">
              <a:latin typeface="+mj-ea"/>
              <a:ea typeface="+mj-ea"/>
            </a:endParaRPr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6B1380B8-4BCA-1A98-6511-8020DEFC9A14}"/>
              </a:ext>
            </a:extLst>
          </p:cNvPr>
          <p:cNvSpPr/>
          <p:nvPr/>
        </p:nvSpPr>
        <p:spPr>
          <a:xfrm>
            <a:off x="1774786" y="1842530"/>
            <a:ext cx="1440259" cy="2380074"/>
          </a:xfrm>
          <a:prstGeom prst="roundRect">
            <a:avLst>
              <a:gd name="adj" fmla="val 4258"/>
            </a:avLst>
          </a:prstGeom>
          <a:solidFill>
            <a:schemeClr val="accent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118A895F-B4D2-F028-FA37-37AFAB40FA3D}"/>
              </a:ext>
            </a:extLst>
          </p:cNvPr>
          <p:cNvSpPr/>
          <p:nvPr/>
        </p:nvSpPr>
        <p:spPr>
          <a:xfrm>
            <a:off x="2376667" y="2067514"/>
            <a:ext cx="8410938" cy="3801702"/>
          </a:xfrm>
          <a:prstGeom prst="roundRect">
            <a:avLst>
              <a:gd name="adj" fmla="val 631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2E556A70-D60E-313B-F6BB-A0DF96162A1A}"/>
              </a:ext>
            </a:extLst>
          </p:cNvPr>
          <p:cNvSpPr txBox="1"/>
          <p:nvPr/>
        </p:nvSpPr>
        <p:spPr>
          <a:xfrm>
            <a:off x="2630579" y="3250352"/>
            <a:ext cx="2647478" cy="22013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1400" b="1" dirty="0"/>
              <a:t>Process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Read Finance dataset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Filter overdue invoices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Generate personalized email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Send reminder automatically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Schedule daily execution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488E99DF-5155-A15C-34F7-AF5E4816D0BA}"/>
              </a:ext>
            </a:extLst>
          </p:cNvPr>
          <p:cNvSpPr txBox="1"/>
          <p:nvPr/>
        </p:nvSpPr>
        <p:spPr>
          <a:xfrm>
            <a:off x="2630578" y="2230685"/>
            <a:ext cx="7532723" cy="8018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IN" b="1" dirty="0"/>
              <a:t>Automated MIS Report Generation &amp; </a:t>
            </a:r>
          </a:p>
          <a:p>
            <a:pPr>
              <a:lnSpc>
                <a:spcPct val="130000"/>
              </a:lnSpc>
            </a:pPr>
            <a:r>
              <a:rPr lang="en-IN" b="1" dirty="0"/>
              <a:t>Email Notification using Google Apps Script.</a:t>
            </a:r>
            <a:endParaRPr kumimoji="1" lang="en-US" altLang="zh-CN" b="1" dirty="0">
              <a:ln w="12700">
                <a:noFill/>
              </a:ln>
              <a:solidFill>
                <a:schemeClr val="accent1"/>
              </a:solidFill>
              <a:latin typeface="+mj-ea"/>
              <a:ea typeface="+mj-ea"/>
              <a:cs typeface="Source Han Sans CN Bold Bold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EA67E333-9CA0-1370-3FEB-CFE48472DDDB}"/>
              </a:ext>
            </a:extLst>
          </p:cNvPr>
          <p:cNvSpPr txBox="1"/>
          <p:nvPr/>
        </p:nvSpPr>
        <p:spPr>
          <a:xfrm>
            <a:off x="5200157" y="3257551"/>
            <a:ext cx="1713788" cy="195105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1400" b="1" dirty="0"/>
              <a:t>Tools Used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Google Sheets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Google Apps Script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Gmail Service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Time-based Trigger 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36FD6B6D-5318-6235-4E23-5931CDD0D628}"/>
              </a:ext>
            </a:extLst>
          </p:cNvPr>
          <p:cNvSpPr txBox="1"/>
          <p:nvPr/>
        </p:nvSpPr>
        <p:spPr>
          <a:xfrm>
            <a:off x="7515826" y="3195738"/>
            <a:ext cx="3155300" cy="238007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1400" b="1" dirty="0"/>
              <a:t>Outcome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Reduced manual follow-up effort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Improved payment collection efficiency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Automated customer notifications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/>
              <a:t>Ensured timely communication with overdue customers</a:t>
            </a:r>
          </a:p>
        </p:txBody>
      </p:sp>
    </p:spTree>
    <p:extLst>
      <p:ext uri="{BB962C8B-B14F-4D97-AF65-F5344CB8AC3E}">
        <p14:creationId xmlns:p14="http://schemas.microsoft.com/office/powerpoint/2010/main" val="2680035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95768-BBE0-2717-7120-ACFC6967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573B47CE-AA1E-D9AA-B992-FC2FC374BD5C}"/>
              </a:ext>
            </a:extLst>
          </p:cNvPr>
          <p:cNvSpPr txBox="1"/>
          <p:nvPr/>
        </p:nvSpPr>
        <p:spPr>
          <a:xfrm>
            <a:off x="648704" y="685694"/>
            <a:ext cx="108945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dirty="0">
                <a:latin typeface="+mj-ea"/>
                <a:ea typeface="+mj-ea"/>
              </a:rPr>
              <a:t>Automation Using Google </a:t>
            </a:r>
            <a:r>
              <a:rPr lang="en-US" altLang="zh-CN" sz="4400" b="1" dirty="0" err="1">
                <a:latin typeface="+mj-ea"/>
                <a:ea typeface="+mj-ea"/>
              </a:rPr>
              <a:t>Appscript</a:t>
            </a:r>
            <a:endParaRPr lang="en-US" altLang="zh-CN" sz="4400" b="1" dirty="0">
              <a:latin typeface="+mj-ea"/>
              <a:ea typeface="+mj-ea"/>
            </a:endParaRPr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0B121D40-DD40-EE3B-8324-A43CE8110A36}"/>
              </a:ext>
            </a:extLst>
          </p:cNvPr>
          <p:cNvSpPr/>
          <p:nvPr/>
        </p:nvSpPr>
        <p:spPr>
          <a:xfrm>
            <a:off x="1774786" y="1842530"/>
            <a:ext cx="1440259" cy="2380074"/>
          </a:xfrm>
          <a:prstGeom prst="roundRect">
            <a:avLst>
              <a:gd name="adj" fmla="val 4258"/>
            </a:avLst>
          </a:prstGeom>
          <a:solidFill>
            <a:schemeClr val="accent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35EF9829-17D8-33A0-67BD-9E1685AB1557}"/>
              </a:ext>
            </a:extLst>
          </p:cNvPr>
          <p:cNvSpPr/>
          <p:nvPr/>
        </p:nvSpPr>
        <p:spPr>
          <a:xfrm>
            <a:off x="2376667" y="2067514"/>
            <a:ext cx="8410938" cy="4104792"/>
          </a:xfrm>
          <a:prstGeom prst="roundRect">
            <a:avLst>
              <a:gd name="adj" fmla="val 631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6DE8B976-24FF-31F7-4FC7-B7E8E8037030}"/>
              </a:ext>
            </a:extLst>
          </p:cNvPr>
          <p:cNvSpPr txBox="1"/>
          <p:nvPr/>
        </p:nvSpPr>
        <p:spPr>
          <a:xfrm>
            <a:off x="2653729" y="2230685"/>
            <a:ext cx="2786374" cy="5009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IN" b="1" dirty="0" err="1"/>
              <a:t>sendOverdueInvoiceAlerts</a:t>
            </a:r>
            <a:r>
              <a:rPr lang="en-IN" b="1" dirty="0"/>
              <a:t>:</a:t>
            </a:r>
            <a:endParaRPr kumimoji="1" lang="en-US" altLang="zh-CN" b="1" dirty="0">
              <a:ln w="12700">
                <a:noFill/>
              </a:ln>
              <a:solidFill>
                <a:schemeClr val="accent1"/>
              </a:solidFill>
              <a:latin typeface="+mj-ea"/>
              <a:ea typeface="+mj-ea"/>
              <a:cs typeface="Source Han Sans CN Bold Bold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AAFD8412-BECF-A660-B1F2-C04CB493D4F1}"/>
              </a:ext>
            </a:extLst>
          </p:cNvPr>
          <p:cNvSpPr txBox="1"/>
          <p:nvPr/>
        </p:nvSpPr>
        <p:spPr>
          <a:xfrm>
            <a:off x="2934386" y="2976174"/>
            <a:ext cx="5386654" cy="311802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r>
              <a:rPr lang="en-IN" b="1" dirty="0"/>
              <a:t>function </a:t>
            </a:r>
            <a:r>
              <a:rPr lang="en-IN" b="1" dirty="0" err="1"/>
              <a:t>sendOverdueReminders</a:t>
            </a:r>
            <a:r>
              <a:rPr lang="en-IN" b="1" dirty="0"/>
              <a:t>() {</a:t>
            </a:r>
          </a:p>
          <a:p>
            <a:r>
              <a:rPr lang="en-IN" b="1" dirty="0"/>
              <a:t>  </a:t>
            </a:r>
            <a:r>
              <a:rPr lang="en-IN" b="1" dirty="0" err="1"/>
              <a:t>const</a:t>
            </a:r>
            <a:r>
              <a:rPr lang="en-IN" b="1" dirty="0"/>
              <a:t> sheet = </a:t>
            </a:r>
            <a:r>
              <a:rPr lang="en-IN" b="1" dirty="0" err="1"/>
              <a:t>SpreadsheetApp.getActiveSpreadsheet</a:t>
            </a:r>
            <a:r>
              <a:rPr lang="en-IN" b="1" dirty="0"/>
              <a:t>()</a:t>
            </a:r>
          </a:p>
          <a:p>
            <a:r>
              <a:rPr lang="en-IN" b="1" dirty="0"/>
              <a:t>      .</a:t>
            </a:r>
            <a:r>
              <a:rPr lang="en-IN" b="1" dirty="0" err="1"/>
              <a:t>getSheetByName</a:t>
            </a:r>
            <a:r>
              <a:rPr lang="en-IN" b="1" dirty="0"/>
              <a:t>("Finance");</a:t>
            </a:r>
          </a:p>
          <a:p>
            <a:r>
              <a:rPr lang="en-IN" b="1" dirty="0"/>
              <a:t>  </a:t>
            </a:r>
            <a:r>
              <a:rPr lang="en-IN" b="1" dirty="0" err="1"/>
              <a:t>const</a:t>
            </a:r>
            <a:r>
              <a:rPr lang="en-IN" b="1" dirty="0"/>
              <a:t> data = </a:t>
            </a:r>
            <a:r>
              <a:rPr lang="en-IN" b="1" dirty="0" err="1"/>
              <a:t>sheet.getDataRange</a:t>
            </a:r>
            <a:r>
              <a:rPr lang="en-IN" b="1" dirty="0"/>
              <a:t>().</a:t>
            </a:r>
            <a:r>
              <a:rPr lang="en-IN" b="1" dirty="0" err="1"/>
              <a:t>getValues</a:t>
            </a:r>
            <a:r>
              <a:rPr lang="en-IN" b="1" dirty="0"/>
              <a:t>();</a:t>
            </a:r>
          </a:p>
          <a:p>
            <a:endParaRPr lang="en-IN" b="1" dirty="0"/>
          </a:p>
          <a:p>
            <a:r>
              <a:rPr lang="en-IN" b="1" dirty="0"/>
              <a:t>  for (let </a:t>
            </a:r>
            <a:r>
              <a:rPr lang="en-IN" b="1" dirty="0" err="1"/>
              <a:t>i</a:t>
            </a:r>
            <a:r>
              <a:rPr lang="en-IN" b="1" dirty="0"/>
              <a:t> = 1; </a:t>
            </a:r>
            <a:r>
              <a:rPr lang="en-IN" b="1" dirty="0" err="1"/>
              <a:t>i</a:t>
            </a:r>
            <a:r>
              <a:rPr lang="en-IN" b="1" dirty="0"/>
              <a:t> &lt; </a:t>
            </a:r>
            <a:r>
              <a:rPr lang="en-IN" b="1" dirty="0" err="1"/>
              <a:t>data.length</a:t>
            </a:r>
            <a:r>
              <a:rPr lang="en-IN" b="1" dirty="0"/>
              <a:t>; </a:t>
            </a:r>
            <a:r>
              <a:rPr lang="en-IN" b="1" dirty="0" err="1"/>
              <a:t>i</a:t>
            </a:r>
            <a:r>
              <a:rPr lang="en-IN" b="1" dirty="0"/>
              <a:t>++) {</a:t>
            </a:r>
          </a:p>
          <a:p>
            <a:endParaRPr lang="en-IN" b="1" dirty="0"/>
          </a:p>
          <a:p>
            <a:r>
              <a:rPr lang="en-IN" b="1" dirty="0"/>
              <a:t>    </a:t>
            </a:r>
            <a:r>
              <a:rPr lang="en-IN" b="1" dirty="0" err="1"/>
              <a:t>const</a:t>
            </a:r>
            <a:r>
              <a:rPr lang="en-IN" b="1" dirty="0"/>
              <a:t> customer = data[</a:t>
            </a:r>
            <a:r>
              <a:rPr lang="en-IN" b="1" dirty="0" err="1"/>
              <a:t>i</a:t>
            </a:r>
            <a:r>
              <a:rPr lang="en-IN" b="1" dirty="0"/>
              <a:t>][1];</a:t>
            </a:r>
          </a:p>
          <a:p>
            <a:r>
              <a:rPr lang="en-IN" b="1" dirty="0"/>
              <a:t>    </a:t>
            </a:r>
            <a:r>
              <a:rPr lang="en-IN" b="1" dirty="0" err="1"/>
              <a:t>const</a:t>
            </a:r>
            <a:r>
              <a:rPr lang="en-IN" b="1" dirty="0"/>
              <a:t> email = data[</a:t>
            </a:r>
            <a:r>
              <a:rPr lang="en-IN" b="1" dirty="0" err="1"/>
              <a:t>i</a:t>
            </a:r>
            <a:r>
              <a:rPr lang="en-IN" b="1" dirty="0"/>
              <a:t>][2];</a:t>
            </a:r>
          </a:p>
          <a:p>
            <a:r>
              <a:rPr lang="en-IN" b="1" dirty="0"/>
              <a:t>    </a:t>
            </a:r>
            <a:r>
              <a:rPr lang="en-IN" b="1" dirty="0" err="1"/>
              <a:t>const</a:t>
            </a:r>
            <a:r>
              <a:rPr lang="en-IN" b="1" dirty="0"/>
              <a:t> amount = data[</a:t>
            </a:r>
            <a:r>
              <a:rPr lang="en-IN" b="1" dirty="0" err="1"/>
              <a:t>i</a:t>
            </a:r>
            <a:r>
              <a:rPr lang="en-IN" b="1" dirty="0"/>
              <a:t>][3];</a:t>
            </a:r>
          </a:p>
          <a:p>
            <a:r>
              <a:rPr lang="en-IN" b="1" dirty="0"/>
              <a:t>    </a:t>
            </a:r>
            <a:r>
              <a:rPr lang="en-IN" b="1" dirty="0" err="1"/>
              <a:t>const</a:t>
            </a:r>
            <a:r>
              <a:rPr lang="en-IN" b="1" dirty="0"/>
              <a:t> </a:t>
            </a:r>
            <a:r>
              <a:rPr lang="en-IN" b="1" dirty="0" err="1"/>
              <a:t>dueDate</a:t>
            </a:r>
            <a:r>
              <a:rPr lang="en-IN" b="1" dirty="0"/>
              <a:t> = data[</a:t>
            </a:r>
            <a:r>
              <a:rPr lang="en-IN" b="1" dirty="0" err="1"/>
              <a:t>i</a:t>
            </a:r>
            <a:r>
              <a:rPr lang="en-IN" b="1" dirty="0"/>
              <a:t>][4];</a:t>
            </a:r>
          </a:p>
        </p:txBody>
      </p:sp>
    </p:spTree>
    <p:extLst>
      <p:ext uri="{BB962C8B-B14F-4D97-AF65-F5344CB8AC3E}">
        <p14:creationId xmlns:p14="http://schemas.microsoft.com/office/powerpoint/2010/main" val="1326814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F4C6F-7F4B-41E5-7CB5-6868C435A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57A1B7B6-A22A-278E-9CD9-EEA76B1278D9}"/>
              </a:ext>
            </a:extLst>
          </p:cNvPr>
          <p:cNvSpPr txBox="1"/>
          <p:nvPr/>
        </p:nvSpPr>
        <p:spPr>
          <a:xfrm>
            <a:off x="648704" y="685694"/>
            <a:ext cx="108945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dirty="0">
                <a:latin typeface="+mj-ea"/>
                <a:ea typeface="+mj-ea"/>
              </a:rPr>
              <a:t>Automation Using Google </a:t>
            </a:r>
            <a:r>
              <a:rPr lang="en-US" altLang="zh-CN" sz="4400" b="1" dirty="0" err="1">
                <a:latin typeface="+mj-ea"/>
                <a:ea typeface="+mj-ea"/>
              </a:rPr>
              <a:t>Appscript</a:t>
            </a:r>
            <a:endParaRPr lang="en-US" altLang="zh-CN" sz="4400" b="1" dirty="0">
              <a:latin typeface="+mj-ea"/>
              <a:ea typeface="+mj-ea"/>
            </a:endParaRPr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1CCE7C4E-06BA-6C92-2E5A-677292EDF59F}"/>
              </a:ext>
            </a:extLst>
          </p:cNvPr>
          <p:cNvSpPr/>
          <p:nvPr/>
        </p:nvSpPr>
        <p:spPr>
          <a:xfrm>
            <a:off x="1774786" y="1842530"/>
            <a:ext cx="1440259" cy="2380074"/>
          </a:xfrm>
          <a:prstGeom prst="roundRect">
            <a:avLst>
              <a:gd name="adj" fmla="val 4258"/>
            </a:avLst>
          </a:prstGeom>
          <a:solidFill>
            <a:schemeClr val="accent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FD658454-B6DB-9DD6-73DB-60110926FA59}"/>
              </a:ext>
            </a:extLst>
          </p:cNvPr>
          <p:cNvSpPr/>
          <p:nvPr/>
        </p:nvSpPr>
        <p:spPr>
          <a:xfrm>
            <a:off x="2376667" y="2067514"/>
            <a:ext cx="8410938" cy="4104792"/>
          </a:xfrm>
          <a:prstGeom prst="roundRect">
            <a:avLst>
              <a:gd name="adj" fmla="val 631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5970FF4-BE8B-FDE0-F241-A67D6DF79214}"/>
              </a:ext>
            </a:extLst>
          </p:cNvPr>
          <p:cNvSpPr txBox="1"/>
          <p:nvPr/>
        </p:nvSpPr>
        <p:spPr>
          <a:xfrm>
            <a:off x="2825391" y="2292498"/>
            <a:ext cx="7962214" cy="387980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r>
              <a:rPr lang="en-IN" b="1" dirty="0"/>
              <a:t> </a:t>
            </a:r>
            <a:r>
              <a:rPr lang="en-IN" b="1" dirty="0" err="1"/>
              <a:t>const</a:t>
            </a:r>
            <a:r>
              <a:rPr lang="en-IN" b="1" dirty="0"/>
              <a:t> status = data[</a:t>
            </a:r>
            <a:r>
              <a:rPr lang="en-IN" b="1" dirty="0" err="1"/>
              <a:t>i</a:t>
            </a:r>
            <a:r>
              <a:rPr lang="en-IN" b="1" dirty="0"/>
              <a:t>][5];</a:t>
            </a:r>
          </a:p>
          <a:p>
            <a:r>
              <a:rPr lang="en-IN" b="1" dirty="0"/>
              <a:t>    if (status === "Overdue") {</a:t>
            </a:r>
          </a:p>
          <a:p>
            <a:r>
              <a:rPr lang="en-IN" b="1" dirty="0"/>
              <a:t>      </a:t>
            </a:r>
            <a:r>
              <a:rPr lang="en-IN" b="1" dirty="0" err="1"/>
              <a:t>const</a:t>
            </a:r>
            <a:r>
              <a:rPr lang="en-IN" b="1" dirty="0"/>
              <a:t> subject = "Payment Reminder - Outstanding Invoice";</a:t>
            </a:r>
          </a:p>
          <a:p>
            <a:r>
              <a:rPr lang="en-IN" b="1" dirty="0"/>
              <a:t>      </a:t>
            </a:r>
            <a:r>
              <a:rPr lang="en-IN" b="1" dirty="0" err="1"/>
              <a:t>const</a:t>
            </a:r>
            <a:r>
              <a:rPr lang="en-IN" b="1" dirty="0"/>
              <a:t> body =</a:t>
            </a:r>
          </a:p>
          <a:p>
            <a:r>
              <a:rPr lang="en-IN" b="1" dirty="0"/>
              <a:t>`Dear ${customer},</a:t>
            </a:r>
          </a:p>
          <a:p>
            <a:r>
              <a:rPr lang="en-IN" b="1" dirty="0"/>
              <a:t>Our records indicate that your payment of ₹${amount} was due on ${</a:t>
            </a:r>
            <a:r>
              <a:rPr lang="en-IN" b="1" dirty="0" err="1"/>
              <a:t>dueDate</a:t>
            </a:r>
            <a:r>
              <a:rPr lang="en-IN" b="1" dirty="0"/>
              <a:t>}.</a:t>
            </a:r>
          </a:p>
          <a:p>
            <a:r>
              <a:rPr lang="en-IN" b="1" dirty="0"/>
              <a:t>Kindly complete the payment at your earliest convenience.</a:t>
            </a:r>
          </a:p>
          <a:p>
            <a:r>
              <a:rPr lang="en-IN" b="1" dirty="0"/>
              <a:t>If payment has already been made, please ignore this message.</a:t>
            </a:r>
          </a:p>
          <a:p>
            <a:r>
              <a:rPr lang="en-IN" b="1" dirty="0"/>
              <a:t>Thank you.</a:t>
            </a:r>
          </a:p>
          <a:p>
            <a:r>
              <a:rPr lang="en-IN" b="1" dirty="0"/>
              <a:t>Finance Department`;</a:t>
            </a:r>
          </a:p>
          <a:p>
            <a:r>
              <a:rPr lang="en-IN" b="1" dirty="0"/>
              <a:t>      </a:t>
            </a:r>
            <a:r>
              <a:rPr lang="en-IN" b="1" dirty="0" err="1"/>
              <a:t>MailApp.sendEmail</a:t>
            </a:r>
            <a:r>
              <a:rPr lang="en-IN" b="1" dirty="0"/>
              <a:t>(email, subject, body);</a:t>
            </a:r>
          </a:p>
          <a:p>
            <a:r>
              <a:rPr lang="en-IN" b="1" dirty="0"/>
              <a:t>    }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5250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59AE9-FB08-45BB-7CF7-F980FD8B5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9D32821-911D-E44E-B54B-551F138B5452}"/>
              </a:ext>
            </a:extLst>
          </p:cNvPr>
          <p:cNvSpPr txBox="1"/>
          <p:nvPr/>
        </p:nvSpPr>
        <p:spPr>
          <a:xfrm>
            <a:off x="876325" y="919993"/>
            <a:ext cx="60121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dirty="0">
                <a:latin typeface="+mj-ea"/>
                <a:ea typeface="+mj-ea"/>
              </a:rPr>
              <a:t>Automate Mail Output</a:t>
            </a:r>
          </a:p>
        </p:txBody>
      </p:sp>
      <p:sp>
        <p:nvSpPr>
          <p:cNvPr id="4" name="椭圆 18">
            <a:extLst>
              <a:ext uri="{FF2B5EF4-FFF2-40B4-BE49-F238E27FC236}">
                <a16:creationId xmlns:a16="http://schemas.microsoft.com/office/drawing/2014/main" id="{0B48CD1E-2D43-34BA-EACB-8A731F33F2C1}"/>
              </a:ext>
            </a:extLst>
          </p:cNvPr>
          <p:cNvSpPr txBox="1"/>
          <p:nvPr/>
        </p:nvSpPr>
        <p:spPr>
          <a:xfrm>
            <a:off x="10079230" y="6023214"/>
            <a:ext cx="188686" cy="188686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椭圆 19">
            <a:extLst>
              <a:ext uri="{FF2B5EF4-FFF2-40B4-BE49-F238E27FC236}">
                <a16:creationId xmlns:a16="http://schemas.microsoft.com/office/drawing/2014/main" id="{6B5CD91F-B658-CC40-CED8-13C3D5778BD0}"/>
              </a:ext>
            </a:extLst>
          </p:cNvPr>
          <p:cNvSpPr txBox="1"/>
          <p:nvPr/>
        </p:nvSpPr>
        <p:spPr>
          <a:xfrm>
            <a:off x="10421750" y="6023214"/>
            <a:ext cx="188686" cy="18868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椭圆 20">
            <a:extLst>
              <a:ext uri="{FF2B5EF4-FFF2-40B4-BE49-F238E27FC236}">
                <a16:creationId xmlns:a16="http://schemas.microsoft.com/office/drawing/2014/main" id="{449D89C1-38DA-837F-550A-32FE200D42B7}"/>
              </a:ext>
            </a:extLst>
          </p:cNvPr>
          <p:cNvSpPr txBox="1"/>
          <p:nvPr/>
        </p:nvSpPr>
        <p:spPr>
          <a:xfrm>
            <a:off x="10764270" y="6023214"/>
            <a:ext cx="188686" cy="188686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椭圆 21">
            <a:extLst>
              <a:ext uri="{FF2B5EF4-FFF2-40B4-BE49-F238E27FC236}">
                <a16:creationId xmlns:a16="http://schemas.microsoft.com/office/drawing/2014/main" id="{92372A2A-A567-BE0C-CDCD-9780578A8B59}"/>
              </a:ext>
            </a:extLst>
          </p:cNvPr>
          <p:cNvSpPr txBox="1"/>
          <p:nvPr/>
        </p:nvSpPr>
        <p:spPr>
          <a:xfrm>
            <a:off x="11106790" y="6023214"/>
            <a:ext cx="188686" cy="18868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椭圆 22">
            <a:extLst>
              <a:ext uri="{FF2B5EF4-FFF2-40B4-BE49-F238E27FC236}">
                <a16:creationId xmlns:a16="http://schemas.microsoft.com/office/drawing/2014/main" id="{85FEBDFD-E8E9-8CCC-6CE1-E4D76929695B}"/>
              </a:ext>
            </a:extLst>
          </p:cNvPr>
          <p:cNvSpPr txBox="1"/>
          <p:nvPr/>
        </p:nvSpPr>
        <p:spPr>
          <a:xfrm>
            <a:off x="11449310" y="6023214"/>
            <a:ext cx="188686" cy="188686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FAB3EB2-E641-E481-F151-8F4C94115B79}"/>
              </a:ext>
            </a:extLst>
          </p:cNvPr>
          <p:cNvSpPr/>
          <p:nvPr/>
        </p:nvSpPr>
        <p:spPr>
          <a:xfrm>
            <a:off x="1055159" y="1901296"/>
            <a:ext cx="8725547" cy="3596640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951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FBF78-5DBA-2EDB-DF4D-9BAFFBA3B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B4CAEB47-079E-B89F-92BB-5477FB4E8F57}"/>
              </a:ext>
            </a:extLst>
          </p:cNvPr>
          <p:cNvSpPr/>
          <p:nvPr/>
        </p:nvSpPr>
        <p:spPr>
          <a:xfrm>
            <a:off x="7460343" y="0"/>
            <a:ext cx="4731657" cy="6858000"/>
          </a:xfrm>
          <a:custGeom>
            <a:avLst/>
            <a:gdLst>
              <a:gd name="csX0" fmla="*/ 3110376 w 4731657"/>
              <a:gd name="csY0" fmla="*/ 0 h 6858000"/>
              <a:gd name="csX1" fmla="*/ 4731657 w 4731657"/>
              <a:gd name="csY1" fmla="*/ 0 h 6858000"/>
              <a:gd name="csX2" fmla="*/ 4731657 w 4731657"/>
              <a:gd name="csY2" fmla="*/ 6858000 h 6858000"/>
              <a:gd name="csX3" fmla="*/ 2025251 w 4731657"/>
              <a:gd name="csY3" fmla="*/ 6858000 h 6858000"/>
              <a:gd name="csX4" fmla="*/ 2408315 w 4731657"/>
              <a:gd name="csY4" fmla="*/ 6776592 h 6858000"/>
              <a:gd name="csX5" fmla="*/ 3336949 w 4731657"/>
              <a:gd name="csY5" fmla="*/ 6405391 h 6858000"/>
              <a:gd name="csX6" fmla="*/ 3629630 w 4731657"/>
              <a:gd name="csY6" fmla="*/ 4517363 h 6858000"/>
              <a:gd name="csX7" fmla="*/ 667697 w 4731657"/>
              <a:gd name="csY7" fmla="*/ 4453144 h 6858000"/>
              <a:gd name="csX8" fmla="*/ 831598 w 4731657"/>
              <a:gd name="csY8" fmla="*/ 3566927 h 6858000"/>
              <a:gd name="csX9" fmla="*/ 3442315 w 4731657"/>
              <a:gd name="csY9" fmla="*/ 3348583 h 6858000"/>
              <a:gd name="csX10" fmla="*/ 3091097 w 4731657"/>
              <a:gd name="csY10" fmla="*/ 1666055 h 6858000"/>
              <a:gd name="csX11" fmla="*/ 246236 w 4731657"/>
              <a:gd name="csY11" fmla="*/ 1640367 h 6858000"/>
              <a:gd name="csX12" fmla="*/ 492089 w 4731657"/>
              <a:gd name="csY12" fmla="*/ 869744 h 6858000"/>
              <a:gd name="csX13" fmla="*/ 3278413 w 4731657"/>
              <a:gd name="csY13" fmla="*/ 805524 h 6858000"/>
              <a:gd name="csX14" fmla="*/ 3126219 w 4731657"/>
              <a:gd name="csY14" fmla="*/ 22058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731657" h="6858000">
                <a:moveTo>
                  <a:pt x="3110376" y="0"/>
                </a:moveTo>
                <a:lnTo>
                  <a:pt x="4731657" y="0"/>
                </a:lnTo>
                <a:lnTo>
                  <a:pt x="4731657" y="6858000"/>
                </a:lnTo>
                <a:lnTo>
                  <a:pt x="2025251" y="6858000"/>
                </a:lnTo>
                <a:lnTo>
                  <a:pt x="2408315" y="6776592"/>
                </a:lnTo>
                <a:cubicBezTo>
                  <a:pt x="2810398" y="6684842"/>
                  <a:pt x="3205243" y="6567543"/>
                  <a:pt x="3336949" y="6405391"/>
                </a:cubicBezTo>
                <a:cubicBezTo>
                  <a:pt x="3688167" y="5972985"/>
                  <a:pt x="4074505" y="4842737"/>
                  <a:pt x="3629630" y="4517363"/>
                </a:cubicBezTo>
                <a:cubicBezTo>
                  <a:pt x="3184755" y="4191989"/>
                  <a:pt x="1134036" y="4611550"/>
                  <a:pt x="667697" y="4453144"/>
                </a:cubicBezTo>
                <a:cubicBezTo>
                  <a:pt x="201359" y="4294739"/>
                  <a:pt x="369162" y="3751020"/>
                  <a:pt x="831598" y="3566927"/>
                </a:cubicBezTo>
                <a:cubicBezTo>
                  <a:pt x="1294035" y="3382834"/>
                  <a:pt x="3065731" y="3665396"/>
                  <a:pt x="3442315" y="3348583"/>
                </a:cubicBezTo>
                <a:cubicBezTo>
                  <a:pt x="3818898" y="3031772"/>
                  <a:pt x="3623777" y="1950758"/>
                  <a:pt x="3091097" y="1666055"/>
                </a:cubicBezTo>
                <a:cubicBezTo>
                  <a:pt x="2558417" y="1381352"/>
                  <a:pt x="679405" y="1773086"/>
                  <a:pt x="246236" y="1640367"/>
                </a:cubicBezTo>
                <a:cubicBezTo>
                  <a:pt x="-186932" y="1507649"/>
                  <a:pt x="-13276" y="1008884"/>
                  <a:pt x="492089" y="869744"/>
                </a:cubicBezTo>
                <a:cubicBezTo>
                  <a:pt x="997452" y="730604"/>
                  <a:pt x="2839392" y="946806"/>
                  <a:pt x="3278413" y="805524"/>
                </a:cubicBezTo>
                <a:cubicBezTo>
                  <a:pt x="3717435" y="664244"/>
                  <a:pt x="3229632" y="244681"/>
                  <a:pt x="3126219" y="22058"/>
                </a:cubicBezTo>
                <a:close/>
              </a:path>
            </a:pathLst>
          </a:custGeom>
          <a:solidFill>
            <a:schemeClr val="accent1"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938314A-302D-0619-6CD6-E37592D759C7}"/>
              </a:ext>
            </a:extLst>
          </p:cNvPr>
          <p:cNvSpPr/>
          <p:nvPr/>
        </p:nvSpPr>
        <p:spPr>
          <a:xfrm>
            <a:off x="9027886" y="1866900"/>
            <a:ext cx="1219200" cy="1219200"/>
          </a:xfrm>
          <a:prstGeom prst="ellipse">
            <a:avLst/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2422F29-FBC8-9434-4F94-220282307435}"/>
              </a:ext>
            </a:extLst>
          </p:cNvPr>
          <p:cNvSpPr/>
          <p:nvPr/>
        </p:nvSpPr>
        <p:spPr>
          <a:xfrm>
            <a:off x="9042399" y="5638799"/>
            <a:ext cx="1567543" cy="12006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9FBDD35F-B5C0-2B19-9C1B-2BCD4590DC2B}"/>
              </a:ext>
            </a:extLst>
          </p:cNvPr>
          <p:cNvSpPr/>
          <p:nvPr/>
        </p:nvSpPr>
        <p:spPr>
          <a:xfrm>
            <a:off x="1" y="6274371"/>
            <a:ext cx="958851" cy="583629"/>
          </a:xfrm>
          <a:custGeom>
            <a:avLst/>
            <a:gdLst>
              <a:gd name="csX0" fmla="*/ 0 w 958851"/>
              <a:gd name="csY0" fmla="*/ 0 h 583629"/>
              <a:gd name="csX1" fmla="*/ 852030 w 958851"/>
              <a:gd name="csY1" fmla="*/ 0 h 583629"/>
              <a:gd name="csX2" fmla="*/ 958851 w 958851"/>
              <a:gd name="csY2" fmla="*/ 291213 h 583629"/>
              <a:gd name="csX3" fmla="*/ 958851 w 958851"/>
              <a:gd name="csY3" fmla="*/ 583629 h 583629"/>
              <a:gd name="csX4" fmla="*/ 0 w 958851"/>
              <a:gd name="csY4" fmla="*/ 583629 h 583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58851" h="583629">
                <a:moveTo>
                  <a:pt x="0" y="0"/>
                </a:moveTo>
                <a:lnTo>
                  <a:pt x="852030" y="0"/>
                </a:lnTo>
                <a:cubicBezTo>
                  <a:pt x="911025" y="0"/>
                  <a:pt x="958851" y="130381"/>
                  <a:pt x="958851" y="291213"/>
                </a:cubicBezTo>
                <a:lnTo>
                  <a:pt x="958851" y="583629"/>
                </a:lnTo>
                <a:lnTo>
                  <a:pt x="0" y="583629"/>
                </a:lnTo>
                <a:close/>
              </a:path>
            </a:pathLst>
          </a:custGeom>
          <a:solidFill>
            <a:schemeClr val="accent3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8E3C473D-763E-2468-6E40-1A99AB559627}"/>
              </a:ext>
            </a:extLst>
          </p:cNvPr>
          <p:cNvSpPr/>
          <p:nvPr/>
        </p:nvSpPr>
        <p:spPr>
          <a:xfrm>
            <a:off x="819328" y="1860779"/>
            <a:ext cx="70289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6000" b="1" dirty="0">
                <a:latin typeface="+mj-lt"/>
              </a:rPr>
              <a:t>THANK YOU</a:t>
            </a:r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0DDEDEBD-2258-E5FB-90DB-B2B2E2751390}"/>
              </a:ext>
            </a:extLst>
          </p:cNvPr>
          <p:cNvSpPr txBox="1"/>
          <p:nvPr/>
        </p:nvSpPr>
        <p:spPr>
          <a:xfrm>
            <a:off x="958851" y="1492357"/>
            <a:ext cx="1547213" cy="6673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72DF80C1-DA2C-53B8-713D-99060D8658C1}"/>
              </a:ext>
            </a:extLst>
          </p:cNvPr>
          <p:cNvSpPr/>
          <p:nvPr/>
        </p:nvSpPr>
        <p:spPr>
          <a:xfrm>
            <a:off x="672462" y="5496877"/>
            <a:ext cx="34022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IN" sz="2000" b="1" dirty="0"/>
              <a:t>Mentor &amp; Guide:</a:t>
            </a:r>
            <a:br>
              <a:rPr lang="en-IN" sz="2000" dirty="0"/>
            </a:br>
            <a:r>
              <a:rPr lang="en-IN" sz="2000" dirty="0"/>
              <a:t>Mr. Kadhiravan </a:t>
            </a:r>
            <a:r>
              <a:rPr lang="en-IN" sz="2000" dirty="0" err="1"/>
              <a:t>Jayachandira</a:t>
            </a:r>
            <a:endParaRPr lang="en-US" sz="2000" dirty="0">
              <a:latin typeface="+mj-lt"/>
            </a:endParaRP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33A6C8F1-55CA-FFA4-DC1C-438F9B1CC84F}"/>
              </a:ext>
            </a:extLst>
          </p:cNvPr>
          <p:cNvSpPr/>
          <p:nvPr/>
        </p:nvSpPr>
        <p:spPr>
          <a:xfrm>
            <a:off x="7005437" y="5496877"/>
            <a:ext cx="29303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latin typeface="+mj-lt"/>
              </a:rPr>
              <a:t>P</a:t>
            </a:r>
            <a:r>
              <a:rPr lang="en-IN" sz="2000" b="1" dirty="0">
                <a:latin typeface="+mj-lt"/>
              </a:rPr>
              <a:t>RESENTED BY:</a:t>
            </a:r>
          </a:p>
          <a:p>
            <a:pPr>
              <a:lnSpc>
                <a:spcPct val="90000"/>
              </a:lnSpc>
            </a:pPr>
            <a:r>
              <a:rPr lang="en-IN" sz="2000" dirty="0">
                <a:latin typeface="+mj-lt"/>
              </a:rPr>
              <a:t>KEDARI SRI VENKATESH</a:t>
            </a:r>
            <a:endParaRPr lang="en-US" sz="2000" dirty="0">
              <a:latin typeface="+mj-lt"/>
            </a:endParaRPr>
          </a:p>
        </p:txBody>
      </p:sp>
      <p:pic>
        <p:nvPicPr>
          <p:cNvPr id="7" name="Picture 6" descr="KultureHire | LinkedIn">
            <a:extLst>
              <a:ext uri="{FF2B5EF4-FFF2-40B4-BE49-F238E27FC236}">
                <a16:creationId xmlns:a16="http://schemas.microsoft.com/office/drawing/2014/main" id="{5C18022A-8087-1A19-B823-81CA9F380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419" y="155035"/>
            <a:ext cx="1206159" cy="1206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5191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自定义 89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0000"/>
      </a:accent1>
      <a:accent2>
        <a:srgbClr val="F7C67F"/>
      </a:accent2>
      <a:accent3>
        <a:srgbClr val="FFFFFF"/>
      </a:accent3>
      <a:accent4>
        <a:srgbClr val="000000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国外">
      <a:majorFont>
        <a:latin typeface="OPPOSans H"/>
        <a:ea typeface="OPPOSans H"/>
        <a:cs typeface=""/>
      </a:majorFont>
      <a:minorFont>
        <a:latin typeface="OPPOSans R"/>
        <a:ea typeface="OPPOSans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2ED5808-CA81-4C9B-B31E-9ED1CFBE0FC4}">
  <we:reference id="wa200007130" version="1.0.0.1" store="en-IN" storeType="OMEX"/>
  <we:alternateReferences>
    <we:reference id="WA200007130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887</Words>
  <Application>Microsoft Office PowerPoint</Application>
  <PresentationFormat>Widescreen</PresentationFormat>
  <Paragraphs>154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等线</vt:lpstr>
      <vt:lpstr>Arial</vt:lpstr>
      <vt:lpstr>OPPOSans H</vt:lpstr>
      <vt:lpstr>OPPOSans R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Venkatesh</dc:creator>
  <cp:lastModifiedBy>Venky Game</cp:lastModifiedBy>
  <cp:revision>19</cp:revision>
  <dcterms:created xsi:type="dcterms:W3CDTF">2026-06-29T06:22:36Z</dcterms:created>
  <dcterms:modified xsi:type="dcterms:W3CDTF">2026-10-02T08:43:42Z</dcterms:modified>
</cp:coreProperties>
</file>